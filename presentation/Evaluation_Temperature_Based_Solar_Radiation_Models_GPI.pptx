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2" r:id="rId7"/>
    <p:sldId id="276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5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458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slide. Project title, the six group members and the scope in one line: 5 IMD stations, 2002–2023 analysis window, 16 models, 5 periods.</a:t>
            </a:r>
          </a:p>
          <a:p>
            <a:endParaRPr/>
          </a:p>
          <a:p>
            <a:r>
              <a:t>Speakers are not assigned in the deck; the 18 content slides (2–19) can be shared three per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Why we need to estimate Rs at all, and why temperature-based models are the practical route.</a:t>
            </a:r>
          </a:p>
          <a:p>
            <a:endParaRPr/>
          </a:p>
          <a:p>
            <a:r>
              <a:t>SAY</a:t>
            </a:r>
          </a:p>
          <a:p>
            <a:r>
              <a:t>• Rs controls crop growth and evapotranspiration — FAO-56 reference ET needs it.</a:t>
            </a:r>
          </a:p>
          <a:p>
            <a:r>
              <a:t>• Pyranometer networks are sparse; temperature is recorded almost everywhere.</a:t>
            </a:r>
          </a:p>
          <a:p>
            <a:r>
              <a:t>• So published models estimate Rs from Tmax, Tmin and extraterrestrial radiation Ra (computed from latitude and date).</a:t>
            </a:r>
          </a:p>
          <a:p>
            <a:endParaRPr/>
          </a:p>
          <a:p>
            <a:r>
              <a:t>LIKELY QUESTION</a:t>
            </a:r>
          </a:p>
          <a:p>
            <a:r>
              <a:t>Why not use satellite radiation products directly? — They are an option (future scope); this project tests models that run on station data alone.</a:t>
            </a:r>
          </a:p>
          <a:p>
            <a:endParaRPr/>
          </a:p>
          <a:p>
            <a:r>
              <a:t>TRANSITION</a:t>
            </a:r>
          </a:p>
          <a:p>
            <a:r>
              <a:t>"But these models come from other regions — which brings us to the research gap."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The gap: published coefficients are not local, so performance across places and seasons must be tested side by side.</a:t>
            </a:r>
          </a:p>
          <a:p>
            <a:endParaRPr/>
          </a:p>
          <a:p>
            <a:r>
              <a:t>SAY</a:t>
            </a:r>
          </a:p>
          <a:p>
            <a:r>
              <a:t>• The 16 models come from different authors and regions (paper Table 2, Karale et al. 2026).</a:t>
            </a:r>
          </a:p>
          <a:p>
            <a:r>
              <a:t>• We expect performance to depend on location and season — we test this, we do not assume it.</a:t>
            </a:r>
          </a:p>
          <a:p>
            <a:r>
              <a:t>• One common framework (four metrics + GPI) makes the comparison fair.</a:t>
            </a:r>
          </a:p>
          <a:p>
            <a:endParaRPr/>
          </a:p>
          <a:p>
            <a:r>
              <a:t>LIKELY QUESTION</a:t>
            </a:r>
          </a:p>
          <a:p>
            <a:r>
              <a:t>Did you re-fit the coefficients? — No. Coefficients are used exactly as printed; local calibration is future scope.</a:t>
            </a:r>
          </a:p>
          <a:p>
            <a:endParaRPr/>
          </a:p>
          <a:p>
            <a:r>
              <a:t>TRANSITION</a:t>
            </a:r>
          </a:p>
          <a:p>
            <a:r>
              <a:t>"From this question we set seven concrete objectives."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The project scope as seven numbered objectives.</a:t>
            </a:r>
          </a:p>
          <a:p>
            <a:endParaRPr/>
          </a:p>
          <a:p>
            <a:r>
              <a:t>SAY</a:t>
            </a:r>
          </a:p>
          <a:p>
            <a:r>
              <a:t>• 01–03 define the scope: 16 published models, five periods (Annual + four IMD seasons: Winter Jan–Feb, Pre-Monsoon Mar–May, Monsoon Jun–Sep, Post-Monsoon Oct–Dec), five IMD stations.</a:t>
            </a:r>
          </a:p>
          <a:p>
            <a:r>
              <a:t>• 04–06 define the scoring: four metrics, combined into GPI, ranked to a Top-3 for every ranked station × period cell.</a:t>
            </a:r>
          </a:p>
          <a:p>
            <a:r>
              <a:t>• 07 is the synthesis: how the ranking changes between stations and between seasons.</a:t>
            </a:r>
          </a:p>
          <a:p>
            <a:endParaRPr/>
          </a:p>
          <a:p>
            <a:r>
              <a:t>LIKELY QUESTION</a:t>
            </a:r>
          </a:p>
          <a:p>
            <a:r>
              <a:t>Why these five stations? — They are the IMD stations available to the group; all five were assessed, three could be ranked.</a:t>
            </a:r>
          </a:p>
          <a:p>
            <a:endParaRPr/>
          </a:p>
          <a:p>
            <a:r>
              <a:t>TRANSITION</a:t>
            </a:r>
          </a:p>
          <a:p>
            <a:r>
              <a:t>"Next: the study area and the five stations."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Where the five stations are, and which three could be ranked.</a:t>
            </a:r>
          </a:p>
          <a:p>
            <a:endParaRPr/>
          </a:p>
          <a:p>
            <a:r>
              <a:t>SAY</a:t>
            </a:r>
          </a:p>
          <a:p>
            <a:r>
              <a:t>• Each marker is a station point; the shaded polygon is only the district that station sits in.</a:t>
            </a:r>
          </a:p>
          <a:p>
            <a:r>
              <a:t>• Okha is a station in Devbhumi Dwarka district; Deesa is a station in Banas Kantha district.</a:t>
            </a:r>
          </a:p>
          <a:p>
            <a:r>
              <a:t>• Ahmedabad, Amreli and Okha are ranked; Surat and Deesa are not ranked because their sunshine reference data failed QC (slide 16).</a:t>
            </a:r>
          </a:p>
          <a:p>
            <a:endParaRPr/>
          </a:p>
          <a:p>
            <a:r>
              <a:t>LIKELY QUESTION</a:t>
            </a:r>
          </a:p>
          <a:p>
            <a:r>
              <a:t>Where do the coordinates come from? — Latitudes are the IMD Climatological Normals values used in the engine; longitudes are the NASA POWER request points for each station.</a:t>
            </a:r>
          </a:p>
          <a:p>
            <a:endParaRPr/>
          </a:p>
          <a:p>
            <a:r>
              <a:t>TRANSITION</a:t>
            </a:r>
          </a:p>
          <a:p>
            <a:r>
              <a:t>"Next: what data each station provides, and what we compare the models against."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Two data paths: temperatures feed the models, sunshine hours feed the reference. NASA POWER only checks data quality.</a:t>
            </a:r>
          </a:p>
          <a:p>
            <a:endParaRPr/>
          </a:p>
          <a:p>
            <a:r>
              <a:t>SAY</a:t>
            </a:r>
          </a:p>
          <a:p>
            <a:r>
              <a:t>• The IMD files are the only input the notebook reads; the analysis window is 2002–2023 (next slide).</a:t>
            </a:r>
          </a:p>
          <a:p>
            <a:r>
              <a:t>• The reference Rs is Ångström–Prescott with a = 0.25, b = 0.50 (paper Eq. 5), using Ra and N from FAO-56 geometry.</a:t>
            </a:r>
          </a:p>
          <a:p>
            <a:r>
              <a:t>• NASA POWER satellite data were used to check whether each station-year of sunshine is trustworthy — not to rank models.</a:t>
            </a:r>
          </a:p>
          <a:p>
            <a:endParaRPr/>
          </a:p>
          <a:p>
            <a:r>
              <a:t>LIKELY QUESTION</a:t>
            </a:r>
          </a:p>
          <a:p>
            <a:r>
              <a:t>Why not use NASA POWER as the reference? — The paper method uses the sunshine-based reference. As a supplementary test, NASA as reference keeps 10 of 15 Top-3 sets unchanged.</a:t>
            </a:r>
          </a:p>
          <a:p>
            <a:endParaRPr/>
          </a:p>
          <a:p>
            <a:r>
              <a:t>TRANSITION</a:t>
            </a:r>
          </a:p>
          <a:p>
            <a:r>
              <a:t>"Next: which years are actually analysed, and the five evaluation periods."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Three different time spans are easy to confuse. A = what the IMD files contain; B = the window we analyse; C = the days that actually enter the ranking.</a:t>
            </a:r>
          </a:p>
          <a:p>
            <a:endParaRPr/>
          </a:p>
          <a:p>
            <a:r>
              <a:t>SAY</a:t>
            </a:r>
          </a:p>
          <a:p>
            <a:r>
              <a:t>• A — Source: the IMD files run 1985–2025 for Ahmedabad, Amreli and Okha; Surat starts in 1990, Deesa only in 2012.</a:t>
            </a:r>
          </a:p>
          <a:p>
            <a:r>
              <a:t>• B — Analysis window: 2002–2023 for every station (22 years, 8,035 calendar days) — the same period as Karale et al. (2026), so our results are comparable with the paper. Records before 2002 and after 2023 are not analysed.</a:t>
            </a:r>
          </a:p>
          <a:p>
            <a:r>
              <a:t>• C — Usable: a day enters the ranking only if it passes every QC rule (next slides). Ahmedabad uses all 22 years (8,013 days); Amreli 15 of 22 years (2003–2011, 2013–2017, 2023; 5,437 days); Okha 2002–2021 (7,040 days); Surat and Deesa 0 — 20,490 usable days in total.</a:t>
            </a:r>
          </a:p>
          <a:p>
            <a:r>
              <a:t>• Five periods: Annual (Jan–Dec), Winter (Jan–Feb), Pre-Monsoon (Mar–May), Monsoon (Jun–Sep), Post-Monsoon (Oct–Dec). Every model is ranked separately in each → 3 stations × 5 periods = 15 ranked cells.</a:t>
            </a:r>
          </a:p>
          <a:p>
            <a:endParaRPr/>
          </a:p>
          <a:p>
            <a:r>
              <a:t>LIKELY QUESTION</a:t>
            </a:r>
          </a:p>
          <a:p>
            <a:r>
              <a:t>Why does the data go back to 1985 but the analysis start in 2002? — We follow the paper's 2002–2023 window for comparability; the extra years exist in the files but are outside the study design.</a:t>
            </a:r>
          </a:p>
          <a:p>
            <a:endParaRPr/>
          </a:p>
          <a:p>
            <a:r>
              <a:t>TRANSITION</a:t>
            </a:r>
          </a:p>
          <a:p>
            <a:r>
              <a:t>"With the data and periods fixed, here is the full workflow."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The whole method on one slide, read left-to-right on top, then right-to-left below; later slides zoom into each box.</a:t>
            </a:r>
          </a:p>
          <a:p>
            <a:endParaRPr/>
          </a:p>
          <a:p>
            <a:r>
              <a:t>SAY</a:t>
            </a:r>
          </a:p>
          <a:p>
            <a:r>
              <a:t>• 01–04: raw IMD data → QC → solar geometry (Ra, N) → Ångström–Prescott reference Rs.</a:t>
            </a:r>
          </a:p>
          <a:p>
            <a:r>
              <a:t>• 05–06: all 16 models run on the same valid days and are scored with four metrics against that reference.</a:t>
            </a:r>
          </a:p>
          <a:p>
            <a:r>
              <a:t>• 07–10: GPI → ranking (highest GPI = rank 1) → Top-3 → comparison across stations and seasons.</a:t>
            </a:r>
          </a:p>
          <a:p>
            <a:endParaRPr/>
          </a:p>
          <a:p>
            <a:r>
              <a:t>LIKELY QUESTION</a:t>
            </a:r>
          </a:p>
          <a:p>
            <a:r>
              <a:t>Is anything calibrated or gap-filled? — No. Published coefficients only; nothing filled, clipped or recalibrated.</a:t>
            </a:r>
          </a:p>
          <a:p>
            <a:endParaRPr/>
          </a:p>
          <a:p>
            <a:r>
              <a:t>TRANSITION</a:t>
            </a:r>
          </a:p>
          <a:p>
            <a:r>
              <a:t>"Next: the quality-control rules that decide which days are used."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The inclusion rules. QC was run on all five stations; only three produced usable ranking days.</a:t>
            </a:r>
          </a:p>
          <a:p>
            <a:endParaRPr/>
          </a:p>
          <a:p>
            <a:r>
              <a:t>SAY</a:t>
            </a:r>
          </a:p>
          <a:p>
            <a:r>
              <a:t>• ΔT &gt; 0 because √ΔT and ln ΔT are undefined otherwise; n &gt; N is physically impossible, so those days are excluded, not clipped.</a:t>
            </a:r>
          </a:p>
          <a:p>
            <a:r>
              <a:t>• The sunshine-year check (amber) is a group-added step, not in the paper; it is what removed every Surat and Deesa year.</a:t>
            </a:r>
          </a:p>
          <a:p>
            <a:r>
              <a:t>• Result: Ahmedabad 8,013, Okha 7,040, Amreli 5,437 usable days; Surat and Deesa 0. Uploaded files cannot run the satellite check; the dashboard flags weak years instead.</a:t>
            </a:r>
          </a:p>
          <a:p>
            <a:endParaRPr/>
          </a:p>
          <a:p>
            <a:r>
              <a:t>LIKELY QUESTION</a:t>
            </a:r>
          </a:p>
          <a:p>
            <a:r>
              <a:t>Is the sunshine check part of the paper? — No, it is our addition. Without it, 11 of 15 Top-3 sets stay the same, but date-shifted records would then be used as the reference.</a:t>
            </a:r>
          </a:p>
          <a:p>
            <a:endParaRPr/>
          </a:p>
          <a:p>
            <a:r>
              <a:t>TRANSITION</a:t>
            </a:r>
          </a:p>
          <a:p>
            <a:r>
              <a:t>"Once the valid days are fixed, all 16 models are run on them."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All 16 models in five families (A–E) by the temperature term they use. Families are the headline; coefficients are shown underneath, exactly as printed.</a:t>
            </a:r>
          </a:p>
          <a:p>
            <a:endParaRPr/>
          </a:p>
          <a:p>
            <a:r>
              <a:t>SAY</a:t>
            </a:r>
          </a:p>
          <a:p>
            <a:r>
              <a:t>• A √ΔT (Hargreaves type): M1, M6, M15 · B power/log ΔT: M3, M5, M9 · C linear/polynomial ΔT: M2, M4, M11, M16 · D temperature ratio: M7, M8, M12 · E Tmax/Tmin/mean T: M10, M13, M14.</a:t>
            </a:r>
          </a:p>
          <a:p>
            <a:r>
              <a:t>• Most models scale Ra; M2 has no Ra term and M10 is additive. Rows write each model in a shared general form — e.g. M1 = 0.16·√ΔT·Ra, i.e. a = 0, b = 0.16.</a:t>
            </a:r>
          </a:p>
          <a:p>
            <a:r>
              <a:t>• * marks three model-form conventions used in the final analysis: M2 ×3.6, M8 Θ = Tmin/Tmax and M16 as printed. The family grouping is our presentation aid, not the paper’s.</a:t>
            </a:r>
          </a:p>
          <a:p>
            <a:endParaRPr/>
          </a:p>
          <a:p>
            <a:r>
              <a:t>LIKELY QUESTION</a:t>
            </a:r>
          </a:p>
          <a:p>
            <a:r>
              <a:t>Where do the equations come from? — Paper Table 2; implemented in engine/models.py and listed in results/model_registry.csv.</a:t>
            </a:r>
          </a:p>
          <a:p>
            <a:endParaRPr/>
          </a:p>
          <a:p>
            <a:r>
              <a:t>TRANSITION</a:t>
            </a:r>
          </a:p>
          <a:p>
            <a:r>
              <a:t>"To compare these 16 models we need a scoring system — four metrics."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How each model is scored before ranking. The α row shows how each metric enters the GPI on the next slide.</a:t>
            </a:r>
          </a:p>
          <a:p>
            <a:endParaRPr/>
          </a:p>
          <a:p>
            <a:r>
              <a:t>SAY</a:t>
            </a:r>
          </a:p>
          <a:p>
            <a:r>
              <a:t>• RMSE and MAE measure error size; RMSE punishes large misses more.</a:t>
            </a:r>
          </a:p>
          <a:p>
            <a:r>
              <a:t>• MBE keeps its sign: positive = overestimate, negative = underestimate — signed use is a project assumption (E).</a:t>
            </a:r>
          </a:p>
          <a:p>
            <a:r>
              <a:t>• R² = 1 − SSE/SST, the paper’s formula; it can be negative when a model is worse than the mean of the reference.</a:t>
            </a:r>
          </a:p>
          <a:p>
            <a:endParaRPr/>
          </a:p>
          <a:p>
            <a:r>
              <a:t>LIKELY QUESTION</a:t>
            </a:r>
          </a:p>
          <a:p>
            <a:r>
              <a:t>Why can R² be negative? — With 1 − SSE/SST, a model whose squared error exceeds the variance of the reference gets R² &lt; 0. Okha’s best annual model has R² = −0.08.</a:t>
            </a:r>
          </a:p>
          <a:p>
            <a:endParaRPr/>
          </a:p>
          <a:p>
            <a:r>
              <a:t>TRANSITION</a:t>
            </a:r>
          </a:p>
          <a:p>
            <a:r>
              <a:t>"Next: how these four metrics become one score — the GPI."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GPI turns four metrics into one number per model, within one station and one period.</a:t>
            </a:r>
          </a:p>
          <a:p>
            <a:endParaRPr/>
          </a:p>
          <a:p>
            <a:r>
              <a:t>SAY</a:t>
            </a:r>
          </a:p>
          <a:p>
            <a:r>
              <a:t>• Each metric is min–max scaled to 0–1 across the 16 models, then compared with the median model.</a:t>
            </a:r>
          </a:p>
          <a:p>
            <a:r>
              <a:t>• α = −1 for R² (higher is better), +1 for RMSE, MAE and MBE; contributions are summed with equal ±1 signs — no weighting, no tuning.</a:t>
            </a:r>
          </a:p>
          <a:p>
            <a:r>
              <a:t>• Worked example: Ahmedabad Annual M1 gets 0.436 → rank 1 of 16.</a:t>
            </a:r>
          </a:p>
          <a:p>
            <a:endParaRPr/>
          </a:p>
          <a:p>
            <a:r>
              <a:t>LIKELY QUESTION</a:t>
            </a:r>
          </a:p>
          <a:p>
            <a:r>
              <a:t>What does a negative GPI mean? — Worse than the median model on balance. Also expect: why signed MBE? — the paper uses it; |MBE| is our sensitivity test (slide 18).</a:t>
            </a:r>
          </a:p>
          <a:p>
            <a:endParaRPr/>
          </a:p>
          <a:p>
            <a:r>
              <a:t>TRANSITION</a:t>
            </a:r>
          </a:p>
          <a:p>
            <a:r>
              <a:t>"Applying GPI to the annual data gives these Top-3 models."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Annual ranking at the three usable stations.</a:t>
            </a:r>
          </a:p>
          <a:p>
            <a:endParaRPr/>
          </a:p>
          <a:p>
            <a:r>
              <a:t>SAY</a:t>
            </a:r>
          </a:p>
          <a:p>
            <a:r>
              <a:t>• Ahmedabad and Amreli have the same annual Top-3: M1 → M13 → M15.</a:t>
            </a:r>
          </a:p>
          <a:p>
            <a:r>
              <a:t>• Okha’s annual Top-3 is completely different: M5 → M3 → M6.</a:t>
            </a:r>
          </a:p>
          <a:p>
            <a:r>
              <a:t>• Okha’s rank-1 model has R² = −0.08 — even the best model there explains less variance than the reference mean. Surat and Deesa are not ranked.</a:t>
            </a:r>
          </a:p>
          <a:p>
            <a:endParaRPr/>
          </a:p>
          <a:p>
            <a:r>
              <a:t>LIKELY QUESTION</a:t>
            </a:r>
          </a:p>
          <a:p>
            <a:r>
              <a:t>Why is Okha different? — The project did not test causes; we report the difference without attributing it (no causal claim).</a:t>
            </a:r>
          </a:p>
          <a:p>
            <a:endParaRPr/>
          </a:p>
          <a:p>
            <a:r>
              <a:t>TRANSITION</a:t>
            </a:r>
          </a:p>
          <a:p>
            <a:r>
              <a:t>"Annual results hide seasonal changes — next, the five periods."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Each column is one station × period cell; the number is the model’s GPI rank there. Gold cells are the Top-3.</a:t>
            </a:r>
          </a:p>
          <a:p>
            <a:endParaRPr/>
          </a:p>
          <a:p>
            <a:r>
              <a:t>SAY</a:t>
            </a:r>
          </a:p>
          <a:p>
            <a:r>
              <a:t>• Read across a row to see how one model’s rank moves between seasons and stations.</a:t>
            </a:r>
          </a:p>
          <a:p>
            <a:r>
              <a:t>• M15 is rank 1 in Winter, Pre-Monsoon and Post-Monsoon at both Ahmedabad and Amreli — but not in the Monsoon.</a:t>
            </a:r>
          </a:p>
          <a:p>
            <a:r>
              <a:t>• In the Monsoon, M2 and M8 join the Top-3 at Ahmedabad and Amreli; Okha has a different Top-3 in every period.</a:t>
            </a:r>
          </a:p>
          <a:p>
            <a:endParaRPr/>
          </a:p>
          <a:p>
            <a:r>
              <a:t>LIKELY QUESTION</a:t>
            </a:r>
          </a:p>
          <a:p>
            <a:r>
              <a:t>Is any model best everywhere? — No. M10 and M16 are consistently weakest (ranks 14–16), but no model is rank 1 in every cell.</a:t>
            </a:r>
          </a:p>
          <a:p>
            <a:endParaRPr/>
          </a:p>
          <a:p>
            <a:r>
              <a:t>TRANSITION</a:t>
            </a:r>
          </a:p>
          <a:p>
            <a:r>
              <a:t>"Next: how often each model reaches the Top-3."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Across all 15 ranked cells, how often each model is in the Top-3 (grey bar) and at rank 1 (gold).</a:t>
            </a:r>
          </a:p>
          <a:p>
            <a:endParaRPr/>
          </a:p>
          <a:p>
            <a:r>
              <a:t>SAY</a:t>
            </a:r>
          </a:p>
          <a:p>
            <a:r>
              <a:t>• M1 is in the Top-3 in 11 of 15 cells — the most consistent — but rank 1 only 3 times.</a:t>
            </a:r>
          </a:p>
          <a:p>
            <a:r>
              <a:t>• M15 has the most rank-1 positions (6). Seven different models take rank 1 overall.</a:t>
            </a:r>
          </a:p>
          <a:p>
            <a:r>
              <a:t>• 12 of 16 models reach the Top-3 at least once; M7, M10, M11 and M16 never do.</a:t>
            </a:r>
          </a:p>
          <a:p>
            <a:endParaRPr/>
          </a:p>
          <a:p>
            <a:r>
              <a:t>LIKELY QUESTION</a:t>
            </a:r>
          </a:p>
          <a:p>
            <a:r>
              <a:t>So should Gujarat use M1? — Only conditionally: the best model depends on station and season, and on assumptions D and E.</a:t>
            </a:r>
          </a:p>
          <a:p>
            <a:endParaRPr/>
          </a:p>
          <a:p>
            <a:r>
              <a:t>TRANSITION</a:t>
            </a:r>
          </a:p>
          <a:p>
            <a:r>
              <a:t>"Why only 15 cells, not 25? Because two stations failed data quality."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Why the ranking covers three stations. The models were not the problem — the sunshine-based reference data at Surat and Deesa failed QC.</a:t>
            </a:r>
          </a:p>
          <a:p>
            <a:endParaRPr/>
          </a:p>
          <a:p>
            <a:r>
              <a:t>SAY</a:t>
            </a:r>
          </a:p>
          <a:p>
            <a:r>
              <a:t>• Usable days: Ahmedabad 8,013, Okha 7,040, Amreli 5,437; Surat and Deesa 0 (out of 8,035 calendar days, 2002–2023).</a:t>
            </a:r>
          </a:p>
          <a:p>
            <a:r>
              <a:t>• Surat: 22% of days absent (1,806 of 8,035), 17 years with fewer than 200 valid sunshine days, and 2002 best matched satellite cloudiness after a ~10-day shift.</a:t>
            </a:r>
          </a:p>
          <a:p>
            <a:r>
              <a:t>• Deesa: no record before 2012, and every year from 2012 only matches satellite cloudiness after a 50–75 day shift — consistent with mis-dated sunshine records.</a:t>
            </a:r>
          </a:p>
          <a:p>
            <a:endParaRPr/>
          </a:p>
          <a:p>
            <a:r>
              <a:t>LIKELY QUESTION</a:t>
            </a:r>
          </a:p>
          <a:p>
            <a:r>
              <a:t>Could you correct the shift and use Deesa? — That would mean altering the data; the project rule is no filling or correcting, so Deesa stays unranked.</a:t>
            </a:r>
          </a:p>
          <a:p>
            <a:endParaRPr/>
          </a:p>
          <a:p>
            <a:r>
              <a:t>TRANSITION</a:t>
            </a:r>
          </a:p>
          <a:p>
            <a:r>
              <a:t>"All of this — and the ranking itself — can be explored in our dashboard."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The dashboard is a research tool, not only a viewer: anyone can upload a compatible station file and run the same 16-model, 5-period analysis.</a:t>
            </a:r>
          </a:p>
          <a:p>
            <a:endParaRPr/>
          </a:p>
          <a:p>
            <a:r>
              <a:t>SAY</a:t>
            </a:r>
          </a:p>
          <a:p>
            <a:r>
              <a:t>• Pages: Overview, Model Explorer (all validated results), Upload &amp; Analyze, Methodology; light and dark themes.</a:t>
            </a:r>
          </a:p>
          <a:p>
            <a:r>
              <a:t>• Upload: daily .xlsx/.csv with Date, Tmax, Tmin, SSH → column check (auto-matched only when unambiguous) → same QC rules (gaps never filled) → latitude → 16 models → metrics → GPI → Top-3 for 5 periods.</a:t>
            </a:r>
          </a:p>
          <a:p>
            <a:r>
              <a:t>• Outputs download as one Excel workbook or separate CSVs. Test: uploading the Ahmedabad file returned M1 (GPI 0.44), M13, M15 on 8,013 days — the validated annual result.</a:t>
            </a:r>
          </a:p>
          <a:p>
            <a:endParaRPr/>
          </a:p>
          <a:p>
            <a:r>
              <a:t>LIKELY QUESTION</a:t>
            </a:r>
          </a:p>
          <a:p>
            <a:r>
              <a:t>Is the upload analysis identical to the project analysis? — Same engine and day-level rules; the NASA sunshine-year check cannot run on uploads, so years with &lt; 200 sunshine values are flagged instead.</a:t>
            </a:r>
          </a:p>
          <a:p>
            <a:endParaRPr/>
          </a:p>
          <a:p>
            <a:r>
              <a:t>TRANSITION</a:t>
            </a:r>
          </a:p>
          <a:p>
            <a:r>
              <a:t>"Before the conclusions: the assumptions behind the ranking."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The final analysis uses five methodological assumptions and conventions. This slide states each one and shows how alternatives change the ranking.</a:t>
            </a:r>
          </a:p>
          <a:p>
            <a:endParaRPr/>
          </a:p>
          <a:p>
            <a:r>
              <a:t>SAY</a:t>
            </a:r>
          </a:p>
          <a:p>
            <a:r>
              <a:t>• Model-form: A M2 ×3.6, B M8 Θ = Tmin/Tmax, C M16 printed form. Metric/GPI: D R² = 1 − SSE/SST, E signed MBE.</a:t>
            </a:r>
          </a:p>
          <a:p>
            <a:r>
              <a:t>• Sensitivity (Top-3 sets unchanged of 15): D → r²: 4/15; E → |MBE|: 4/15; A → M2 as printed: 13/15; C → M16 with √ΔT: 15/15. B was not tested, so no number is claimed.</a:t>
            </a:r>
          </a:p>
          <a:p>
            <a:r>
              <a:t>• Limitations: the reference is sunshine-derived (not pyranometer Rs), the sunshine-year QC is our addition, and none of our five stations is in the paper.</a:t>
            </a:r>
          </a:p>
          <a:p>
            <a:endParaRPr/>
          </a:p>
          <a:p>
            <a:r>
              <a:t>LIKELY QUESTION</a:t>
            </a:r>
          </a:p>
          <a:p>
            <a:r>
              <a:t>Why keep signed MBE? — It follows the paper; the paper’s own Table 4 shows no dominance violations with signed MBE (one with |MBE|), so |MBE| is reported as a sensitivity test.</a:t>
            </a:r>
          </a:p>
          <a:p>
            <a:endParaRPr/>
          </a:p>
          <a:p>
            <a:r>
              <a:t>TRANSITION</a:t>
            </a:r>
          </a:p>
          <a:p>
            <a:r>
              <a:t>"With these caveats in mind, here is what we conclude."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The five findings, each backed by a number, and what should come next.</a:t>
            </a:r>
          </a:p>
          <a:p>
            <a:endParaRPr/>
          </a:p>
          <a:p>
            <a:r>
              <a:t>SAY</a:t>
            </a:r>
          </a:p>
          <a:p>
            <a:r>
              <a:t>• No universal model: seven different models reach rank 1 across the 15 ranked cells (Top-3 among 16 models).</a:t>
            </a:r>
          </a:p>
          <a:p>
            <a:r>
              <a:t>• Location and season both change the answer — Okha shares none of the annual Top-3 of Ahmedabad and Amreli (M1, M13, M15); M15 is rank 1 in 6 station-season cells (Winter, Pre-Monsoon, Post-Monsoon at Ahmedabad and Amreli).</a:t>
            </a:r>
          </a:p>
          <a:p>
            <a:r>
              <a:t>• Data quality set the scope: 2 of 5 stations could not be ranked. Only 4 of 15 Top-3 sets stay the same if the R² or MBE convention changes, so the rankings are conditional on assumptions D and E.</a:t>
            </a:r>
          </a:p>
          <a:p>
            <a:r>
              <a:t>• Future scope (proposed): settle the R² / MBE conventions, use measured pyranometer radiation, add stations with clean sunshine records, calibrate locally, add a satellite sunshine check for uploads, compare with satellite Rs products.</a:t>
            </a:r>
          </a:p>
          <a:p>
            <a:endParaRPr/>
          </a:p>
          <a:p>
            <a:r>
              <a:t>LIKELY QUESTION</a:t>
            </a:r>
          </a:p>
          <a:p>
            <a:r>
              <a:t>Which finding is most robust? — "No single model ranks first everywhere" holds in the primary results; the specific Top-3 sets depend on the R² and MBE conventions.</a:t>
            </a:r>
          </a:p>
          <a:p>
            <a:endParaRPr/>
          </a:p>
          <a:p>
            <a:r>
              <a:t>TRANSITION</a:t>
            </a:r>
          </a:p>
          <a:p>
            <a:r>
              <a:t>"Thank you — we are happy to take 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Thank-You / Q&amp;A slide (last slide). The Live Dashboard QR code and clickable URL open https://temperature-based-solar-radiation-models.streamlit.app/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0" Type="http://schemas.openxmlformats.org/officeDocument/2006/relationships/image" Target="../media/image12.png"/><Relationship Id="rId4" Type="http://schemas.openxmlformats.org/officeDocument/2006/relationships/image" Target="../media/image23.png"/><Relationship Id="rId9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emperature-based-solar-radiation-models.streamlit.app/" TargetMode="External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ap_ou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895" y="685800"/>
            <a:ext cx="6254496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86868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300">
                <a:solidFill>
                  <a:srgbClr val="F2B13C"/>
                </a:solidFill>
                <a:latin typeface="Segoe UI Semibold"/>
                <a:cs typeface="Segoe UI Semibold"/>
              </a:rPr>
              <a:t>M.SC. AGRICULTURE ANALYTICS  ·  GROUP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749807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700" b="0" i="0" dirty="0">
                <a:solidFill>
                  <a:srgbClr val="E8EDF5"/>
                </a:solidFill>
                <a:latin typeface="Segoe UI Black"/>
                <a:cs typeface="Segoe UI Black"/>
              </a:rPr>
              <a:t>Comparative evaluation of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700" b="0" i="0" dirty="0">
                <a:solidFill>
                  <a:srgbClr val="E8EDF5"/>
                </a:solidFill>
                <a:latin typeface="Segoe UI Black"/>
                <a:cs typeface="Segoe UI Black"/>
              </a:rPr>
              <a:t>Temperature-based solar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700" b="0" i="0" dirty="0">
                <a:solidFill>
                  <a:srgbClr val="E8EDF5"/>
                </a:solidFill>
                <a:latin typeface="Segoe UI Black"/>
                <a:cs typeface="Segoe UI Black"/>
              </a:rPr>
              <a:t>radiation models using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700" b="0" i="0" dirty="0">
                <a:solidFill>
                  <a:srgbClr val="F2B13C"/>
                </a:solidFill>
                <a:latin typeface="Segoe UI Black"/>
                <a:cs typeface="Segoe UI Black"/>
              </a:rPr>
              <a:t>global performance indicator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3767328"/>
            <a:ext cx="1005840" cy="457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6766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 dirty="0">
                <a:solidFill>
                  <a:srgbClr val="B3BFD0"/>
                </a:solidFill>
                <a:latin typeface="Segoe UI"/>
                <a:cs typeface="Segoe UI"/>
              </a:rPr>
              <a:t>Evaluation of 16 Temperature-Based Solar Radiation Models Across Stations and Seasons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54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spc="250">
                <a:solidFill>
                  <a:srgbClr val="8796AB"/>
                </a:solidFill>
                <a:latin typeface="Segoe UI Semibold"/>
                <a:cs typeface="Segoe UI Semibold"/>
              </a:rPr>
              <a:t>PRESENTED BY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074920"/>
            <a:ext cx="1828800" cy="384048"/>
          </a:xfrm>
          <a:prstGeom prst="rect">
            <a:avLst/>
          </a:prstGeom>
          <a:solidFill>
            <a:srgbClr val="101C33">
              <a:alpha val="7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832104" y="5230368"/>
            <a:ext cx="73152" cy="73152"/>
          </a:xfrm>
          <a:prstGeom prst="ellipse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6" y="5159222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1400" dirty="0">
                <a:solidFill>
                  <a:srgbClr val="E8EDF5"/>
                </a:solidFill>
                <a:latin typeface="Segoe UI Semibold"/>
                <a:cs typeface="Segoe UI Semibold"/>
              </a:rPr>
              <a:t>Gayatri</a:t>
            </a:r>
            <a:endParaRPr sz="1400" b="0" i="0" dirty="0">
              <a:solidFill>
                <a:srgbClr val="E8EDF5"/>
              </a:solidFill>
              <a:latin typeface="Segoe UI Semibold"/>
              <a:cs typeface="Segoe UI Semi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51760" y="5074920"/>
            <a:ext cx="1828800" cy="384048"/>
          </a:xfrm>
          <a:prstGeom prst="rect">
            <a:avLst/>
          </a:prstGeom>
          <a:solidFill>
            <a:srgbClr val="101C33">
              <a:alpha val="7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2798064" y="5230368"/>
            <a:ext cx="73152" cy="73152"/>
          </a:xfrm>
          <a:prstGeom prst="ellipse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62656" y="5159222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1400" dirty="0">
                <a:solidFill>
                  <a:srgbClr val="E8EDF5"/>
                </a:solidFill>
                <a:latin typeface="Segoe UI Semibold"/>
                <a:cs typeface="Segoe UI Semibold"/>
              </a:rPr>
              <a:t>Shreya</a:t>
            </a:r>
            <a:endParaRPr sz="1400" b="0" i="0" dirty="0">
              <a:solidFill>
                <a:srgbClr val="E8EDF5"/>
              </a:solidFill>
              <a:latin typeface="Segoe UI Semibold"/>
              <a:cs typeface="Segoe UI Semibold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17720" y="5074920"/>
            <a:ext cx="1828800" cy="384048"/>
          </a:xfrm>
          <a:prstGeom prst="rect">
            <a:avLst/>
          </a:prstGeom>
          <a:solidFill>
            <a:srgbClr val="101C33">
              <a:alpha val="7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4764024" y="5230368"/>
            <a:ext cx="73152" cy="73152"/>
          </a:xfrm>
          <a:prstGeom prst="ellipse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28616" y="5159222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400" b="0" i="0" dirty="0" err="1">
                <a:solidFill>
                  <a:srgbClr val="E8EDF5"/>
                </a:solidFill>
                <a:latin typeface="Segoe UI Semibold"/>
                <a:cs typeface="Segoe UI Semibold"/>
              </a:rPr>
              <a:t>Yaswanthi</a:t>
            </a:r>
            <a:endParaRPr sz="1400" b="0" i="0" dirty="0">
              <a:solidFill>
                <a:srgbClr val="E8EDF5"/>
              </a:solidFill>
              <a:latin typeface="Segoe UI Semibold"/>
              <a:cs typeface="Segoe UI Semibold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5577840"/>
            <a:ext cx="1828800" cy="384048"/>
          </a:xfrm>
          <a:prstGeom prst="rect">
            <a:avLst/>
          </a:prstGeom>
          <a:solidFill>
            <a:srgbClr val="101C33">
              <a:alpha val="7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2104" y="5733288"/>
            <a:ext cx="73152" cy="73152"/>
          </a:xfrm>
          <a:prstGeom prst="ellipse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" y="5662142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1400" dirty="0">
                <a:solidFill>
                  <a:srgbClr val="E8EDF5"/>
                </a:solidFill>
                <a:latin typeface="Segoe UI Semibold"/>
                <a:cs typeface="Segoe UI Semibold"/>
              </a:rPr>
              <a:t>Het</a:t>
            </a:r>
            <a:endParaRPr sz="1400" b="0" i="0" dirty="0">
              <a:solidFill>
                <a:srgbClr val="E8EDF5"/>
              </a:solidFill>
              <a:latin typeface="Segoe UI Semibold"/>
              <a:cs typeface="Segoe UI Semibold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651760" y="5577840"/>
            <a:ext cx="1828800" cy="384048"/>
          </a:xfrm>
          <a:prstGeom prst="rect">
            <a:avLst/>
          </a:prstGeom>
          <a:solidFill>
            <a:srgbClr val="101C33">
              <a:alpha val="7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2798064" y="5733288"/>
            <a:ext cx="73152" cy="73152"/>
          </a:xfrm>
          <a:prstGeom prst="ellipse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62656" y="5662142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400" b="0" i="0" dirty="0">
                <a:solidFill>
                  <a:srgbClr val="E8EDF5"/>
                </a:solidFill>
                <a:latin typeface="Segoe UI Semibold"/>
                <a:cs typeface="Segoe UI Semibold"/>
              </a:rPr>
              <a:t>Gopal</a:t>
            </a:r>
            <a:endParaRPr sz="1400" b="0" i="0" dirty="0">
              <a:solidFill>
                <a:srgbClr val="E8EDF5"/>
              </a:solidFill>
              <a:latin typeface="Segoe UI Semibold"/>
              <a:cs typeface="Segoe UI Semibold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617720" y="5577840"/>
            <a:ext cx="1828800" cy="384048"/>
          </a:xfrm>
          <a:prstGeom prst="rect">
            <a:avLst/>
          </a:prstGeom>
          <a:solidFill>
            <a:srgbClr val="101C33">
              <a:alpha val="7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4764024" y="5733288"/>
            <a:ext cx="73152" cy="73152"/>
          </a:xfrm>
          <a:prstGeom prst="ellipse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28616" y="5662142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400" b="0" i="0" dirty="0">
                <a:solidFill>
                  <a:srgbClr val="E8EDF5"/>
                </a:solidFill>
                <a:latin typeface="Segoe UI Semibold"/>
                <a:cs typeface="Segoe UI Semibold"/>
              </a:rPr>
              <a:t>Sathwik</a:t>
            </a:r>
            <a:endParaRPr sz="1400" b="0" i="0" dirty="0">
              <a:solidFill>
                <a:srgbClr val="E8EDF5"/>
              </a:solidFill>
              <a:latin typeface="Segoe UI Semibold"/>
              <a:cs typeface="Segoe UI Semi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52160" y="6172200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"/>
                <a:cs typeface="Segoe UI"/>
              </a:rPr>
              <a:t>5 IMD stations  ·  2002–2023 analysis window  ·  16 models  ·  5 periods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BACKGROUND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Solar radiation drives agriculture — yet it is rarely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86400" cy="896112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ic_s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37943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1709928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Segoe UI Semibold"/>
                <a:cs typeface="Segoe UI Semibold"/>
              </a:rPr>
              <a:t>Energy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39112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Global solar radiation (Rs) is the energy that drives photosynthesis and crop growth.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24328"/>
            <a:ext cx="5486400" cy="896112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ic_d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862072"/>
            <a:ext cx="420624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2734056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Segoe UI Semibold"/>
                <a:cs typeface="Segoe UI Semibold"/>
              </a:rPr>
              <a:t>Evapotranspiration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6324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Rs is a key input to reference evapotranspiration (FAO-56) and irrigation planning.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48456"/>
            <a:ext cx="5486400" cy="896112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ic_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886200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3040" y="3758184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Segoe UI Semibold"/>
                <a:cs typeface="Segoe UI Semibold"/>
              </a:rPr>
              <a:t>Solar resource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8736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Rs data also support solar-energy assessment.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00200"/>
            <a:ext cx="5239512" cy="896112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Picture 17" descr="ic_war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1837943"/>
            <a:ext cx="420624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0" y="1709928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Segoe UI Semibold"/>
                <a:cs typeface="Segoe UI Semibold"/>
              </a:rPr>
              <a:t>Direct Rs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0574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pyranometers are costly and sparse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6840" y="2505456"/>
            <a:ext cx="0" cy="109728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2624328"/>
            <a:ext cx="5239512" cy="896112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ic_therm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862072"/>
            <a:ext cx="420624" cy="4206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0" y="2734056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Segoe UI Semibold"/>
                <a:cs typeface="Segoe UI Semibold"/>
              </a:rPr>
              <a:t>Temperature is everywhere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08152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daily Tmax and Tmin are routinely recorded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06840" y="3529584"/>
            <a:ext cx="0" cy="109728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0" y="3648456"/>
            <a:ext cx="5239512" cy="896112"/>
          </a:xfrm>
          <a:prstGeom prst="rect">
            <a:avLst/>
          </a:prstGeom>
          <a:solidFill>
            <a:srgbClr val="14233D">
              <a:alpha val="90000"/>
            </a:srgbClr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8" name="Picture 27" descr="ic_formul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3886200"/>
            <a:ext cx="420624" cy="4206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315200" y="3758184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2B13C"/>
                </a:solidFill>
                <a:latin typeface="Segoe UI Semibold"/>
                <a:cs typeface="Segoe UI Semibold"/>
              </a:rPr>
              <a:t>Estimate Rs from temperature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10565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empirical models + extraterrestrial 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11091672" cy="1234440"/>
          </a:xfrm>
          <a:prstGeom prst="rect">
            <a:avLst/>
          </a:prstGeom>
          <a:solidFill>
            <a:srgbClr val="1A1A12">
              <a:alpha val="55000"/>
            </a:srgbClr>
          </a:solidFill>
          <a:ln w="9525">
            <a:solidFill>
              <a:srgbClr val="F2B13C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" y="4846320"/>
            <a:ext cx="1058875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2B13C"/>
                </a:solidFill>
                <a:latin typeface="Segoe UI Semibold"/>
                <a:cs typeface="Segoe UI Semibold"/>
              </a:rPr>
              <a:t>Why it matters here  </a:t>
            </a:r>
            <a:r>
              <a:rPr sz="1500" b="0" i="0">
                <a:solidFill>
                  <a:srgbClr val="E8EDF5"/>
                </a:solidFill>
                <a:latin typeface="Segoe UI"/>
                <a:cs typeface="Segoe UI"/>
              </a:rPr>
              <a:t>Temperature-based models need only data that IMD stations already record — but each model was fitted elsewhere, so its reliability in Gujarat is unknown.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02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RESEARCH GAP &amp;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A model fitted elsewhere may not suit Gujarat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3538728" cy="2606040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80" y="1719072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800" b="0" i="0">
                <a:solidFill>
                  <a:srgbClr val="2E4163"/>
                </a:solidFill>
                <a:latin typeface="Segoe UI Black"/>
                <a:cs typeface="Segoe UI Black"/>
              </a:rPr>
              <a:t>01</a:t>
            </a:r>
          </a:p>
        </p:txBody>
      </p:sp>
      <p:pic>
        <p:nvPicPr>
          <p:cNvPr id="7" name="Picture 6" descr="ic_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874519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7" y="265176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8EDF5"/>
                </a:solidFill>
                <a:latin typeface="Segoe UI Semibold"/>
                <a:cs typeface="Segoe UI Semibold"/>
              </a:rPr>
              <a:t>Developed elsewhere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127248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B3BFD0"/>
                </a:solidFill>
                <a:latin typeface="Segoe UI"/>
                <a:cs typeface="Segoe UI"/>
              </a:rPr>
              <a:t>Each of the 16 equations was fitted with coefficients from a different region and dataset.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05656" y="2898648"/>
            <a:ext cx="201168" cy="0"/>
          </a:xfrm>
          <a:prstGeom prst="line">
            <a:avLst/>
          </a:prstGeom>
          <a:ln w="2032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325112" y="1600200"/>
            <a:ext cx="3538728" cy="2606040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2552" y="1719072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800" b="0" i="0">
                <a:solidFill>
                  <a:srgbClr val="2E4163"/>
                </a:solidFill>
                <a:latin typeface="Segoe UI Black"/>
                <a:cs typeface="Segoe UI Black"/>
              </a:rPr>
              <a:t>02</a:t>
            </a:r>
          </a:p>
        </p:txBody>
      </p:sp>
      <p:pic>
        <p:nvPicPr>
          <p:cNvPr id="13" name="Picture 12" descr="ic_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874519"/>
            <a:ext cx="566928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7720" y="265176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8EDF5"/>
                </a:solidFill>
                <a:latin typeface="Segoe UI Semibold"/>
                <a:cs typeface="Segoe UI Semibold"/>
              </a:rPr>
              <a:t>Performance may vary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127248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B3BFD0"/>
                </a:solidFill>
                <a:latin typeface="Segoe UI"/>
                <a:cs typeface="Segoe UI"/>
              </a:rPr>
              <a:t>Accuracy can differ between locations and between seasons — especially the monsoon.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82127" y="2898648"/>
            <a:ext cx="201169" cy="0"/>
          </a:xfrm>
          <a:prstGeom prst="line">
            <a:avLst/>
          </a:prstGeom>
          <a:ln w="2032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101583" y="1600200"/>
            <a:ext cx="3538728" cy="2606040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79024" y="1719072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800" b="0" i="0">
                <a:solidFill>
                  <a:srgbClr val="2E4163"/>
                </a:solidFill>
                <a:latin typeface="Segoe UI Black"/>
                <a:cs typeface="Segoe UI Black"/>
              </a:rPr>
              <a:t>03</a:t>
            </a:r>
          </a:p>
        </p:txBody>
      </p:sp>
      <p:pic>
        <p:nvPicPr>
          <p:cNvPr id="19" name="Picture 18" descr="ic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1874519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94192" y="265176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8EDF5"/>
                </a:solidFill>
                <a:latin typeface="Segoe UI Semibold"/>
                <a:cs typeface="Segoe UI Semibold"/>
              </a:rPr>
              <a:t>Compare, don’t assume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127248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B3BFD0"/>
                </a:solidFill>
                <a:latin typeface="Segoe UI"/>
                <a:cs typeface="Segoe UI"/>
              </a:rPr>
              <a:t>A like-for-like evaluation, with one ranking framework, is needed before choosing a model.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26280"/>
            <a:ext cx="11091672" cy="1600200"/>
          </a:xfrm>
          <a:prstGeom prst="rect">
            <a:avLst/>
          </a:prstGeom>
          <a:solidFill>
            <a:srgbClr val="1A1A12">
              <a:alpha val="55000"/>
            </a:srgbClr>
          </a:solidFill>
          <a:ln w="9525">
            <a:solidFill>
              <a:srgbClr val="F2B13C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RESEARCH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834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 i="0">
                <a:solidFill>
                  <a:srgbClr val="E8EDF5"/>
                </a:solidFill>
                <a:latin typeface="Segoe UI Semibold"/>
                <a:cs typeface="Segoe UI Semibold"/>
              </a:rPr>
              <a:t>Where only daily temperature and sunshine records exist, which temperature-based model best estimates daily Rs — and does the answer change with season and place?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03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606040" cy="2057400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606040" cy="457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6479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796AB"/>
                </a:solidFill>
                <a:latin typeface="Segoe UI Semibold"/>
                <a:cs typeface="Segoe UI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1168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2B13C"/>
                </a:solidFill>
                <a:latin typeface="Segoe UI Black"/>
                <a:cs typeface="Segoe UI Blac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5176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"/>
                <a:cs typeface="Segoe UI"/>
              </a:rPr>
              <a:t>Evaluate 16 published temperature-based Rs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600200"/>
            <a:ext cx="2606040" cy="2057400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4992" y="1600200"/>
            <a:ext cx="2606040" cy="457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176479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796AB"/>
                </a:solidFill>
                <a:latin typeface="Segoe UI Semibold"/>
                <a:cs typeface="Segoe UI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01168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2B13C"/>
                </a:solidFill>
                <a:latin typeface="Segoe UI Black"/>
                <a:cs typeface="Segoe UI Blac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5176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 dirty="0" err="1">
                <a:solidFill>
                  <a:srgbClr val="E8EDF5"/>
                </a:solidFill>
                <a:latin typeface="Segoe UI"/>
                <a:cs typeface="Segoe UI"/>
              </a:rPr>
              <a:t>Analyse</a:t>
            </a:r>
            <a:r>
              <a:rPr sz="1350" b="0" i="0" dirty="0">
                <a:solidFill>
                  <a:srgbClr val="E8EDF5"/>
                </a:solidFill>
                <a:latin typeface="Segoe UI"/>
                <a:cs typeface="Segoe UI"/>
              </a:rPr>
              <a:t> Annual + Winter + Pre-Monsoon + Monsoon + Post-Monsoon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600200"/>
            <a:ext cx="2606040" cy="2057400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2606040" cy="457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176479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796AB"/>
                </a:solidFill>
                <a:latin typeface="Segoe UI Semibold"/>
                <a:cs typeface="Segoe UI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01168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2B13C"/>
                </a:solidFill>
                <a:latin typeface="Segoe UI Black"/>
                <a:cs typeface="Segoe UI Black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651760"/>
            <a:ext cx="210312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350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Assess all 5 IMD stations; only the 3 meeting reference-data/QC criteria are ranked.</a:t>
            </a:r>
            <a:endParaRPr sz="1350" b="0" i="0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97696" y="1600200"/>
            <a:ext cx="2606040" cy="2057400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97696" y="1600200"/>
            <a:ext cx="2606040" cy="457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72016" y="176479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796AB"/>
                </a:solidFill>
                <a:latin typeface="Segoe UI Semibold"/>
                <a:cs typeface="Segoe UI Semi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01168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2B13C"/>
                </a:solidFill>
                <a:latin typeface="Segoe UI Black"/>
                <a:cs typeface="Segoe UI Black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65176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"/>
                <a:cs typeface="Segoe UI"/>
              </a:rPr>
              <a:t>Calculate RMSE, MAE, MBE and R²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40480"/>
            <a:ext cx="3538728" cy="2057400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3840480"/>
            <a:ext cx="3538728" cy="457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400507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796AB"/>
                </a:solidFill>
                <a:latin typeface="Segoe UI Semibold"/>
                <a:cs typeface="Segoe UI Semibol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251960"/>
            <a:ext cx="3081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2B13C"/>
                </a:solidFill>
                <a:latin typeface="Segoe UI Black"/>
                <a:cs typeface="Segoe UI Black"/>
              </a:rPr>
              <a:t>GPI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892040"/>
            <a:ext cx="30358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"/>
                <a:cs typeface="Segoe UI"/>
              </a:rPr>
              <a:t>Construct the Global Performance Indicator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5112" y="3840480"/>
            <a:ext cx="3538728" cy="2057400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25112" y="3840480"/>
            <a:ext cx="3538728" cy="457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9431" y="400507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796AB"/>
                </a:solidFill>
                <a:latin typeface="Segoe UI Semibold"/>
                <a:cs typeface="Segoe UI Semibol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1" y="4251960"/>
            <a:ext cx="3081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2B13C"/>
                </a:solidFill>
                <a:latin typeface="Segoe UI Black"/>
                <a:cs typeface="Segoe UI Black"/>
              </a:rPr>
              <a:t>Top-3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892040"/>
            <a:ext cx="30358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"/>
                <a:cs typeface="Segoe UI"/>
              </a:rPr>
              <a:t>Identify Top-3 models for each ranked cell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01583" y="3840480"/>
            <a:ext cx="3538728" cy="2057400"/>
          </a:xfrm>
          <a:prstGeom prst="rect">
            <a:avLst/>
          </a:prstGeom>
          <a:solidFill>
            <a:srgbClr val="101C33">
              <a:alpha val="8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01583" y="3840480"/>
            <a:ext cx="3538728" cy="457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75904" y="400507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796AB"/>
                </a:solidFill>
                <a:latin typeface="Segoe UI Semibold"/>
                <a:cs typeface="Segoe UI Semibold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4251960"/>
            <a:ext cx="3081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2B13C"/>
                </a:solidFill>
                <a:latin typeface="Segoe UI Black"/>
                <a:cs typeface="Segoe UI Black"/>
              </a:rPr>
              <a:t>S × 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4892040"/>
            <a:ext cx="30358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"/>
                <a:cs typeface="Segoe UI"/>
              </a:rPr>
              <a:t>Compare station × season patterns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04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4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4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4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4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4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4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4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4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STUDY AREA &amp; STATIONS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Five IMD stations across Gujarat</a:t>
            </a:r>
          </a:p>
        </p:txBody>
      </p:sp>
      <p:pic>
        <p:nvPicPr>
          <p:cNvPr id="5" name="Picture 4" descr="map_stu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298448"/>
            <a:ext cx="57277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12280" y="1417320"/>
            <a:ext cx="4828032" cy="786384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12280" y="1417320"/>
            <a:ext cx="45720" cy="786384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149047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8EDF5"/>
                </a:solidFill>
                <a:latin typeface="Segoe UI Semibold"/>
                <a:cs typeface="Segoe UI Semibold"/>
              </a:rPr>
              <a:t>Ahmedabad</a:t>
            </a:r>
            <a:r>
              <a:rPr sz="1050" b="0" i="0">
                <a:solidFill>
                  <a:srgbClr val="8796AB"/>
                </a:solidFill>
                <a:latin typeface="Segoe UI"/>
                <a:cs typeface="Segoe UI"/>
              </a:rPr>
              <a:t>  station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5623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8796AB"/>
                </a:solidFill>
                <a:latin typeface="Segoe UI"/>
                <a:cs typeface="Segoe UI"/>
              </a:rPr>
              <a:t>Ahmedabad district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508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23.07°N · 72.63°E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61320" y="1645920"/>
            <a:ext cx="960120" cy="329184"/>
          </a:xfrm>
          <a:prstGeom prst="rect">
            <a:avLst/>
          </a:prstGeom>
          <a:solidFill>
            <a:srgbClr val="F2B13C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61320" y="1645920"/>
            <a:ext cx="960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2B13C"/>
                </a:solidFill>
                <a:latin typeface="Segoe UI Semibold"/>
                <a:cs typeface="Segoe UI Semibold"/>
              </a:rPr>
              <a:t>RANKED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2304288"/>
            <a:ext cx="4828032" cy="786384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12280" y="2304288"/>
            <a:ext cx="45720" cy="786384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0" y="2377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8EDF5"/>
                </a:solidFill>
                <a:latin typeface="Segoe UI Semibold"/>
                <a:cs typeface="Segoe UI Semibold"/>
              </a:rPr>
              <a:t>Amreli</a:t>
            </a:r>
            <a:r>
              <a:rPr sz="1050" b="0" i="0">
                <a:solidFill>
                  <a:srgbClr val="8796AB"/>
                </a:solidFill>
                <a:latin typeface="Segoe UI"/>
                <a:cs typeface="Segoe UI"/>
              </a:rPr>
              <a:t>  station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74320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8796AB"/>
                </a:solidFill>
                <a:latin typeface="Segoe UI"/>
                <a:cs typeface="Segoe UI"/>
              </a:rPr>
              <a:t>Amreli district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39572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21.60°N · 71.22°E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61320" y="2532888"/>
            <a:ext cx="960120" cy="329184"/>
          </a:xfrm>
          <a:prstGeom prst="rect">
            <a:avLst/>
          </a:prstGeom>
          <a:solidFill>
            <a:srgbClr val="F2B13C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61320" y="2532888"/>
            <a:ext cx="960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2B13C"/>
                </a:solidFill>
                <a:latin typeface="Segoe UI Semibold"/>
                <a:cs typeface="Segoe UI Semibold"/>
              </a:rPr>
              <a:t>RANKED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3191256"/>
            <a:ext cx="4828032" cy="786384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12280" y="3191256"/>
            <a:ext cx="45720" cy="786384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326440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8EDF5"/>
                </a:solidFill>
                <a:latin typeface="Segoe UI Semibold"/>
                <a:cs typeface="Segoe UI Semibold"/>
              </a:rPr>
              <a:t>Okha</a:t>
            </a:r>
            <a:r>
              <a:rPr sz="1050" b="0" i="0">
                <a:solidFill>
                  <a:srgbClr val="8796AB"/>
                </a:solidFill>
                <a:latin typeface="Segoe UI"/>
                <a:cs typeface="Segoe UI"/>
              </a:rPr>
              <a:t>  station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6301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↳ in Devbhumi Dwarka district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282696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22.48°N · 69.12°E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61320" y="3419856"/>
            <a:ext cx="960120" cy="329184"/>
          </a:xfrm>
          <a:prstGeom prst="rect">
            <a:avLst/>
          </a:prstGeom>
          <a:solidFill>
            <a:srgbClr val="F2B13C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3419856"/>
            <a:ext cx="960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2B13C"/>
                </a:solidFill>
                <a:latin typeface="Segoe UI Semibold"/>
                <a:cs typeface="Segoe UI Semibold"/>
              </a:rPr>
              <a:t>RANKED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4078224"/>
            <a:ext cx="4828032" cy="786384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12280" y="4078224"/>
            <a:ext cx="45720" cy="786384"/>
          </a:xfrm>
          <a:prstGeom prst="rect">
            <a:avLst/>
          </a:prstGeom>
          <a:solidFill>
            <a:srgbClr val="E5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15137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8EDF5"/>
                </a:solidFill>
                <a:latin typeface="Segoe UI Semibold"/>
                <a:cs typeface="Segoe UI Semibold"/>
              </a:rPr>
              <a:t>Surat</a:t>
            </a:r>
            <a:r>
              <a:rPr sz="1050" b="0" i="0">
                <a:solidFill>
                  <a:srgbClr val="8796AB"/>
                </a:solidFill>
                <a:latin typeface="Segoe UI"/>
                <a:cs typeface="Segoe UI"/>
              </a:rPr>
              <a:t>  station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51713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8796AB"/>
                </a:solidFill>
                <a:latin typeface="Segoe UI"/>
                <a:cs typeface="Segoe UI"/>
              </a:rPr>
              <a:t>Surat district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169663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21.20°N · 72.80°E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61320" y="4306824"/>
            <a:ext cx="960120" cy="329184"/>
          </a:xfrm>
          <a:prstGeom prst="rect">
            <a:avLst/>
          </a:prstGeom>
          <a:solidFill>
            <a:srgbClr val="E5634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61320" y="4306824"/>
            <a:ext cx="960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5634D"/>
                </a:solidFill>
                <a:latin typeface="Segoe UI Semibold"/>
                <a:cs typeface="Segoe UI Semibold"/>
              </a:rPr>
              <a:t>NOT RANKED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12280" y="4965192"/>
            <a:ext cx="4828032" cy="786384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12280" y="4965192"/>
            <a:ext cx="45720" cy="786384"/>
          </a:xfrm>
          <a:prstGeom prst="rect">
            <a:avLst/>
          </a:prstGeom>
          <a:solidFill>
            <a:srgbClr val="E5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40880" y="503834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8EDF5"/>
                </a:solidFill>
                <a:latin typeface="Segoe UI Semibold"/>
                <a:cs typeface="Segoe UI Semibold"/>
              </a:rPr>
              <a:t>Deesa</a:t>
            </a:r>
            <a:r>
              <a:rPr sz="1050" b="0" i="0">
                <a:solidFill>
                  <a:srgbClr val="8796AB"/>
                </a:solidFill>
                <a:latin typeface="Segoe UI"/>
                <a:cs typeface="Segoe UI"/>
              </a:rPr>
              <a:t>  station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4041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↳ in Banas Kantha district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5056631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24.20°N · 72.20°E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61320" y="5193792"/>
            <a:ext cx="960120" cy="329184"/>
          </a:xfrm>
          <a:prstGeom prst="rect">
            <a:avLst/>
          </a:prstGeom>
          <a:solidFill>
            <a:srgbClr val="E5634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61320" y="5193792"/>
            <a:ext cx="960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5634D"/>
                </a:solidFill>
                <a:latin typeface="Segoe UI Semibold"/>
                <a:cs typeface="Segoe UI Semibold"/>
              </a:rPr>
              <a:t>NOT RANKED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053328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"/>
                <a:cs typeface="Segoe UI"/>
              </a:rPr>
              <a:t>●  </a:t>
            </a: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ranked station   </a:t>
            </a:r>
            <a:r>
              <a:rPr sz="1100" b="0" i="0">
                <a:solidFill>
                  <a:srgbClr val="9AA8BD"/>
                </a:solidFill>
                <a:latin typeface="Segoe UI"/>
                <a:cs typeface="Segoe UI"/>
              </a:rPr>
              <a:t>✕  </a:t>
            </a: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not-ranked station   </a:t>
            </a:r>
            <a:r>
              <a:rPr sz="1100" b="0" i="0">
                <a:solidFill>
                  <a:srgbClr val="F2B13C"/>
                </a:solidFill>
                <a:latin typeface="Segoe UI"/>
                <a:cs typeface="Segoe UI"/>
              </a:rPr>
              <a:t>■  </a:t>
            </a: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host district boundary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58978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8796AB"/>
                </a:solidFill>
                <a:latin typeface="Segoe UI"/>
                <a:cs typeface="Segoe UI"/>
              </a:rPr>
              <a:t>Markers = station points. Shaded polygons = the host district of each station (shown for location context).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Lat: IMD normals (engine/config.py) · lon: NASA POWER request points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DATA SOURCES &amp;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What goes in, and what the models are compared against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3291840" cy="324612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ic_s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10512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423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8EDF5"/>
                </a:solidFill>
                <a:latin typeface="Segoe UI Semibold"/>
                <a:cs typeface="Segoe UI Semibold"/>
              </a:rPr>
              <a:t>IMD daily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2B13C"/>
                </a:solidFill>
                <a:latin typeface="Segoe UI Semibold"/>
                <a:cs typeface="Segoe UI Semibold"/>
              </a:rPr>
              <a:t>Tmax</a:t>
            </a:r>
            <a:r>
              <a:rPr sz="1300" b="0" i="0">
                <a:solidFill>
                  <a:srgbClr val="B3BFD0"/>
                </a:solidFill>
                <a:latin typeface="Segoe UI"/>
                <a:cs typeface="Segoe UI"/>
              </a:rPr>
              <a:t>  maximum temperature, °C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2B13C"/>
                </a:solidFill>
                <a:latin typeface="Segoe UI Semibold"/>
                <a:cs typeface="Segoe UI Semibold"/>
              </a:rPr>
              <a:t>Tmin</a:t>
            </a:r>
            <a:r>
              <a:rPr sz="1300" b="0" i="0">
                <a:solidFill>
                  <a:srgbClr val="B3BFD0"/>
                </a:solidFill>
                <a:latin typeface="Segoe UI"/>
                <a:cs typeface="Segoe UI"/>
              </a:rPr>
              <a:t>  minimum temperature, °C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2B13C"/>
                </a:solidFill>
                <a:latin typeface="Segoe UI Semibold"/>
                <a:cs typeface="Segoe UI Semibold"/>
              </a:rPr>
              <a:t>n</a:t>
            </a:r>
            <a:r>
              <a:rPr sz="1300" b="0" i="0">
                <a:solidFill>
                  <a:srgbClr val="B3BFD0"/>
                </a:solidFill>
                <a:latin typeface="Segoe UI"/>
                <a:cs typeface="Segoe UI"/>
              </a:rPr>
              <a:t>  bright sunshine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2B13C"/>
                </a:solidFill>
                <a:latin typeface="Segoe UI Black"/>
                <a:cs typeface="Segoe UI Black"/>
              </a:rPr>
              <a:t>2002 – 2023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"/>
                <a:cs typeface="Segoe UI"/>
              </a:rPr>
              <a:t>analysis window · 22 years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2743200"/>
            <a:ext cx="548640" cy="0"/>
          </a:xfrm>
          <a:prstGeom prst="line">
            <a:avLst/>
          </a:prstGeom>
          <a:ln w="2286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86200" y="3840480"/>
            <a:ext cx="548640" cy="0"/>
          </a:xfrm>
          <a:prstGeom prst="line">
            <a:avLst/>
          </a:prstGeom>
          <a:ln w="2286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480560" y="1600200"/>
            <a:ext cx="3931920" cy="1783080"/>
          </a:xfrm>
          <a:prstGeom prst="rect">
            <a:avLst/>
          </a:prstGeom>
          <a:solidFill>
            <a:srgbClr val="14233D">
              <a:alpha val="90000"/>
            </a:srgbClr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spc="200">
                <a:solidFill>
                  <a:srgbClr val="8796AB"/>
                </a:solidFill>
                <a:latin typeface="Segoe UI Semibold"/>
                <a:cs typeface="Segoe UI Semibold"/>
              </a:rPr>
              <a:t>MODELS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05740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8EDF5"/>
                </a:solidFill>
                <a:latin typeface="Segoe UI Semibold"/>
                <a:cs typeface="Segoe UI Semibold"/>
              </a:rPr>
              <a:t>Tmax, Tmin  →  16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56032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Ra and day length N from latitude and date (FAO-56)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520440"/>
            <a:ext cx="3931920" cy="1325880"/>
          </a:xfrm>
          <a:prstGeom prst="rect">
            <a:avLst/>
          </a:prstGeom>
          <a:solidFill>
            <a:srgbClr val="14233D">
              <a:alpha val="90000"/>
            </a:srgbClr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363931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spc="200">
                <a:solidFill>
                  <a:srgbClr val="8796AB"/>
                </a:solidFill>
                <a:latin typeface="Segoe UI Semibold"/>
                <a:cs typeface="Segoe UI Semibold"/>
              </a:rPr>
              <a:t>IMD REFERENCE 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93192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8EDF5"/>
                </a:solidFill>
                <a:latin typeface="Segoe UI Semibold"/>
                <a:cs typeface="Segoe UI Semibold"/>
              </a:rPr>
              <a:t>n  →  Ångström–Prescott 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1600200"/>
            <a:ext cx="2999232" cy="3246120"/>
          </a:xfrm>
          <a:prstGeom prst="rect">
            <a:avLst/>
          </a:prstGeom>
          <a:solidFill>
            <a:srgbClr val="1A1A12">
              <a:alpha val="55000"/>
            </a:srgbClr>
          </a:solidFill>
          <a:ln w="9525">
            <a:solidFill>
              <a:srgbClr val="F2B13C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17830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spc="200">
                <a:solidFill>
                  <a:srgbClr val="F2B13C"/>
                </a:solidFill>
                <a:latin typeface="Segoe UI Semibold"/>
                <a:cs typeface="Segoe UI Semibold"/>
              </a:rPr>
              <a:t>IMD PRIMARY 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240280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Rs = (0.25 + 0.50·n/N)·Ra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971800"/>
            <a:ext cx="2606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B3BFD0"/>
                </a:solidFill>
                <a:latin typeface="Segoe UI"/>
                <a:cs typeface="Segoe UI"/>
              </a:rPr>
              <a:t>Sunshine-based standard used by the paper. It is an estimate — not measured pyranometer radiation.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30768" y="4206240"/>
            <a:ext cx="192024" cy="0"/>
          </a:xfrm>
          <a:prstGeom prst="line">
            <a:avLst/>
          </a:prstGeom>
          <a:ln w="2032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8640" y="5074920"/>
            <a:ext cx="11091672" cy="1097280"/>
          </a:xfrm>
          <a:prstGeom prst="rect">
            <a:avLst/>
          </a:prstGeom>
          <a:solidFill>
            <a:srgbClr val="101C33">
              <a:alpha val="85000"/>
            </a:srgbClr>
          </a:solidFill>
          <a:ln w="12700">
            <a:solidFill>
              <a:srgbClr val="4FB3E8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ic_sa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85232"/>
            <a:ext cx="658368" cy="6583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45920" y="51389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FB3E8"/>
                </a:solidFill>
                <a:latin typeface="Segoe UI Semibold"/>
                <a:cs typeface="Segoe UI Semibold"/>
              </a:rPr>
              <a:t>NASA POWER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5778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796AB"/>
                </a:solidFill>
                <a:latin typeface="Segoe UI"/>
                <a:cs typeface="Segoe UI"/>
              </a:rPr>
              <a:t>supplementary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7492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B3BFD0"/>
                </a:solidFill>
                <a:latin typeface="Segoe UI"/>
                <a:cs typeface="Segoe UI"/>
              </a:rPr>
              <a:t>Used as satellite evidence for the sunshine-record quality check and for a side comparison. </a:t>
            </a:r>
            <a:r>
              <a:rPr sz="1350" b="0" i="0">
                <a:solidFill>
                  <a:srgbClr val="E8EDF5"/>
                </a:solidFill>
                <a:latin typeface="Segoe UI Semibold"/>
                <a:cs typeface="Segoe UI Semibold"/>
              </a:rPr>
              <a:t>It is NOT the ranking reference.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README §3–4 · engine/solar_geometry.py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DATA PERIOD &amp; SEASONAL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Source record ≠ analysis window ≠ usable days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data/raw_imd · engine/config.py · daily_predictions.csv</a:t>
            </a:r>
          </a:p>
        </p:txBody>
      </p:sp>
      <p:sp>
        <p:nvSpPr>
          <p:cNvPr id="99" name="Timeline panel"/>
          <p:cNvSpPr/>
          <p:nvPr/>
        </p:nvSpPr>
        <p:spPr>
          <a:xfrm>
            <a:off x="548640" y="1463040"/>
            <a:ext cx="6812280" cy="352044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77240" y="15727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>
                <a:solidFill>
                  <a:srgbClr val="8796AB"/>
                </a:solidFill>
                <a:latin typeface="Segoe UI Semibold"/>
              </a:rPr>
              <a:t>WHICH YEARS ARE USED, PER STATION</a:t>
            </a:r>
          </a:p>
        </p:txBody>
      </p:sp>
      <p:sp>
        <p:nvSpPr>
          <p:cNvPr id="101" name="Analysis window band"/>
          <p:cNvSpPr/>
          <p:nvPr/>
        </p:nvSpPr>
        <p:spPr>
          <a:xfrm>
            <a:off x="3656484" y="1764792"/>
            <a:ext cx="2306072" cy="2322576"/>
          </a:xfrm>
          <a:prstGeom prst="rect">
            <a:avLst/>
          </a:prstGeom>
          <a:solidFill>
            <a:srgbClr val="F2B13C">
              <a:alpha val="8000"/>
            </a:srgbClr>
          </a:solidFill>
          <a:ln w="9525">
            <a:solidFill>
              <a:srgbClr val="F2B13C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382164" y="1508760"/>
            <a:ext cx="28547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>
                <a:solidFill>
                  <a:srgbClr val="F2B13C"/>
                </a:solidFill>
                <a:latin typeface="Segoe UI Semibold"/>
              </a:rPr>
              <a:t>ANALYSIS WINDOW  2002 – 2023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7240" y="18745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E8EDF5"/>
                </a:solidFill>
                <a:latin typeface="Segoe UI Semibold"/>
              </a:rPr>
              <a:t>Ahmedabad</a:t>
            </a:r>
          </a:p>
        </p:txBody>
      </p:sp>
      <p:sp>
        <p:nvSpPr>
          <p:cNvPr id="104" name="Source Ahmedabad"/>
          <p:cNvSpPr/>
          <p:nvPr/>
        </p:nvSpPr>
        <p:spPr>
          <a:xfrm>
            <a:off x="1874519" y="1965960"/>
            <a:ext cx="4297680" cy="91440"/>
          </a:xfrm>
          <a:prstGeom prst="rect">
            <a:avLst/>
          </a:prstGeom>
          <a:solidFill>
            <a:srgbClr val="3A4C6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Used Ahmedabad 2002"/>
          <p:cNvSpPr/>
          <p:nvPr/>
        </p:nvSpPr>
        <p:spPr>
          <a:xfrm>
            <a:off x="3656484" y="1892808"/>
            <a:ext cx="2306072" cy="237744"/>
          </a:xfrm>
          <a:prstGeom prst="rect">
            <a:avLst/>
          </a:prstGeom>
          <a:solidFill>
            <a:srgbClr val="F2B13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54496" y="1874520"/>
            <a:ext cx="10789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E8EDF5"/>
                </a:solidFill>
                <a:latin typeface="Segoe UI Semibold"/>
              </a:rPr>
              <a:t>8,013 days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7240" y="23317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E8EDF5"/>
                </a:solidFill>
                <a:latin typeface="Segoe UI Semibold"/>
              </a:rPr>
              <a:t>Amreli</a:t>
            </a:r>
          </a:p>
        </p:txBody>
      </p:sp>
      <p:sp>
        <p:nvSpPr>
          <p:cNvPr id="108" name="Source Amreli"/>
          <p:cNvSpPr/>
          <p:nvPr/>
        </p:nvSpPr>
        <p:spPr>
          <a:xfrm>
            <a:off x="1874519" y="2423160"/>
            <a:ext cx="4297680" cy="91440"/>
          </a:xfrm>
          <a:prstGeom prst="rect">
            <a:avLst/>
          </a:prstGeom>
          <a:solidFill>
            <a:srgbClr val="3A4C6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Used Amreli 2003"/>
          <p:cNvSpPr/>
          <p:nvPr/>
        </p:nvSpPr>
        <p:spPr>
          <a:xfrm>
            <a:off x="3761306" y="2350008"/>
            <a:ext cx="943393" cy="237744"/>
          </a:xfrm>
          <a:prstGeom prst="rect">
            <a:avLst/>
          </a:prstGeom>
          <a:solidFill>
            <a:srgbClr val="F2B13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Used Amreli 2013"/>
          <p:cNvSpPr/>
          <p:nvPr/>
        </p:nvSpPr>
        <p:spPr>
          <a:xfrm>
            <a:off x="4809520" y="2350008"/>
            <a:ext cx="524107" cy="237744"/>
          </a:xfrm>
          <a:prstGeom prst="rect">
            <a:avLst/>
          </a:prstGeom>
          <a:solidFill>
            <a:srgbClr val="F2B13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Used Amreli 2023"/>
          <p:cNvSpPr/>
          <p:nvPr/>
        </p:nvSpPr>
        <p:spPr>
          <a:xfrm>
            <a:off x="5857735" y="2350008"/>
            <a:ext cx="104821" cy="237744"/>
          </a:xfrm>
          <a:prstGeom prst="rect">
            <a:avLst/>
          </a:prstGeom>
          <a:solidFill>
            <a:srgbClr val="F2B13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254496" y="2331720"/>
            <a:ext cx="10789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E8EDF5"/>
                </a:solidFill>
                <a:latin typeface="Segoe UI Semibold"/>
              </a:rPr>
              <a:t>5,437 days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7240" y="27889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E8EDF5"/>
                </a:solidFill>
                <a:latin typeface="Segoe UI Semibold"/>
              </a:rPr>
              <a:t>Okha</a:t>
            </a:r>
          </a:p>
        </p:txBody>
      </p:sp>
      <p:sp>
        <p:nvSpPr>
          <p:cNvPr id="114" name="Source Okha"/>
          <p:cNvSpPr/>
          <p:nvPr/>
        </p:nvSpPr>
        <p:spPr>
          <a:xfrm>
            <a:off x="1874519" y="2880360"/>
            <a:ext cx="4297680" cy="91440"/>
          </a:xfrm>
          <a:prstGeom prst="rect">
            <a:avLst/>
          </a:prstGeom>
          <a:solidFill>
            <a:srgbClr val="3A4C6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Used Okha 2002"/>
          <p:cNvSpPr/>
          <p:nvPr/>
        </p:nvSpPr>
        <p:spPr>
          <a:xfrm>
            <a:off x="3656484" y="2807208"/>
            <a:ext cx="2096429" cy="237744"/>
          </a:xfrm>
          <a:prstGeom prst="rect">
            <a:avLst/>
          </a:prstGeom>
          <a:solidFill>
            <a:srgbClr val="F2B13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254496" y="2788920"/>
            <a:ext cx="10789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E8EDF5"/>
                </a:solidFill>
                <a:latin typeface="Segoe UI Semibold"/>
              </a:rPr>
              <a:t>7,040 days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77240" y="32461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E8EDF5"/>
                </a:solidFill>
                <a:latin typeface="Segoe UI Semibold"/>
              </a:rPr>
              <a:t>Surat</a:t>
            </a:r>
          </a:p>
        </p:txBody>
      </p:sp>
      <p:sp>
        <p:nvSpPr>
          <p:cNvPr id="118" name="Source Surat"/>
          <p:cNvSpPr/>
          <p:nvPr/>
        </p:nvSpPr>
        <p:spPr>
          <a:xfrm>
            <a:off x="2398627" y="3337560"/>
            <a:ext cx="3773572" cy="91440"/>
          </a:xfrm>
          <a:prstGeom prst="rect">
            <a:avLst/>
          </a:prstGeom>
          <a:solidFill>
            <a:srgbClr val="3A4C6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254496" y="3246120"/>
            <a:ext cx="10789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E46B6B"/>
                </a:solidFill>
                <a:latin typeface="Segoe UI Semibold"/>
              </a:rPr>
              <a:t>0 · not ranked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77240" y="37033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E8EDF5"/>
                </a:solidFill>
                <a:latin typeface="Segoe UI Semibold"/>
              </a:rPr>
              <a:t>Deesa</a:t>
            </a:r>
          </a:p>
        </p:txBody>
      </p:sp>
      <p:sp>
        <p:nvSpPr>
          <p:cNvPr id="121" name="Source Deesa"/>
          <p:cNvSpPr/>
          <p:nvPr/>
        </p:nvSpPr>
        <p:spPr>
          <a:xfrm>
            <a:off x="4704699" y="3794760"/>
            <a:ext cx="1467500" cy="91440"/>
          </a:xfrm>
          <a:prstGeom prst="rect">
            <a:avLst/>
          </a:prstGeom>
          <a:solidFill>
            <a:srgbClr val="3A4C6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254496" y="3703320"/>
            <a:ext cx="10789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E46B6B"/>
                </a:solidFill>
                <a:latin typeface="Segoe UI Semibold"/>
              </a:rPr>
              <a:t>0 · not ranked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600199" y="414223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8796AB"/>
                </a:solidFill>
                <a:latin typeface="Segoe UI"/>
              </a:rPr>
              <a:t>1985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124307" y="414223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8796AB"/>
                </a:solidFill>
                <a:latin typeface="Segoe UI"/>
              </a:rPr>
              <a:t>1990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72521" y="414223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8796AB"/>
                </a:solidFill>
                <a:latin typeface="Segoe UI"/>
              </a:rPr>
              <a:t>2000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220736" y="414223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8796AB"/>
                </a:solidFill>
                <a:latin typeface="Segoe UI"/>
              </a:rPr>
              <a:t>2010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268951" y="414223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8796AB"/>
                </a:solidFill>
                <a:latin typeface="Segoe UI"/>
              </a:rPr>
              <a:t>2020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93058" y="414223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8796AB"/>
                </a:solidFill>
                <a:latin typeface="Segoe UI"/>
              </a:rPr>
              <a:t>2025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77240" y="4590288"/>
            <a:ext cx="320040" cy="82296"/>
          </a:xfrm>
          <a:prstGeom prst="rect">
            <a:avLst/>
          </a:prstGeom>
          <a:solidFill>
            <a:srgbClr val="3A4C6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161288" y="452628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B3BFD0"/>
                </a:solidFill>
                <a:latin typeface="Segoe UI"/>
              </a:rPr>
              <a:t>source record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06040" y="4544568"/>
            <a:ext cx="320040" cy="173736"/>
          </a:xfrm>
          <a:prstGeom prst="rect">
            <a:avLst/>
          </a:prstGeom>
          <a:solidFill>
            <a:srgbClr val="F2B13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990088" y="4526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B3BFD0"/>
                </a:solidFill>
                <a:latin typeface="Segoe UI"/>
              </a:rPr>
              <a:t>years used for ranking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54880" y="4535424"/>
            <a:ext cx="320040" cy="192024"/>
          </a:xfrm>
          <a:prstGeom prst="rect">
            <a:avLst/>
          </a:prstGeom>
          <a:solidFill>
            <a:srgbClr val="F2B13C">
              <a:alpha val="8000"/>
            </a:srgbClr>
          </a:solidFill>
          <a:ln w="9525">
            <a:solidFill>
              <a:srgbClr val="F2B13C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5138928" y="452628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B3BFD0"/>
                </a:solidFill>
                <a:latin typeface="Segoe UI"/>
              </a:rPr>
              <a:t>analysis window (all stations)</a:t>
            </a:r>
          </a:p>
        </p:txBody>
      </p:sp>
      <p:sp>
        <p:nvSpPr>
          <p:cNvPr id="135" name="Period card A"/>
          <p:cNvSpPr/>
          <p:nvPr/>
        </p:nvSpPr>
        <p:spPr>
          <a:xfrm>
            <a:off x="7589520" y="1463040"/>
            <a:ext cx="4050791" cy="1097280"/>
          </a:xfrm>
          <a:prstGeom prst="rect">
            <a:avLst/>
          </a:prstGeom>
          <a:solidFill>
            <a:srgbClr val="14233D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772400" y="15910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>
                <a:solidFill>
                  <a:srgbClr val="F2B13C"/>
                </a:solidFill>
                <a:latin typeface="Segoe UI Black"/>
              </a:rPr>
              <a:t>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75320" y="157276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8796AB"/>
                </a:solidFill>
                <a:latin typeface="Segoe UI Semibold"/>
              </a:rPr>
              <a:t>SOURCE DATA AVAILABLE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275320" y="1783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>
                <a:solidFill>
                  <a:srgbClr val="E8EDF5"/>
                </a:solidFill>
                <a:latin typeface="Segoe UI Black"/>
              </a:rPr>
              <a:t>1985 – 2025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275320" y="217627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>
                <a:solidFill>
                  <a:srgbClr val="B3BFD0"/>
                </a:solidFill>
                <a:latin typeface="Segoe UI"/>
              </a:rPr>
              <a:t>IMD daily files · Surat from 1990 · Deesa from 2012</a:t>
            </a:r>
          </a:p>
        </p:txBody>
      </p:sp>
      <p:sp>
        <p:nvSpPr>
          <p:cNvPr id="140" name="Period card B"/>
          <p:cNvSpPr/>
          <p:nvPr/>
        </p:nvSpPr>
        <p:spPr>
          <a:xfrm>
            <a:off x="7589520" y="2670048"/>
            <a:ext cx="4050791" cy="1097280"/>
          </a:xfrm>
          <a:prstGeom prst="rect">
            <a:avLst/>
          </a:prstGeom>
          <a:solidFill>
            <a:srgbClr val="14233D">
              <a:alpha val="90000"/>
            </a:srgbClr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772400" y="279806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>
                <a:solidFill>
                  <a:srgbClr val="F2B13C"/>
                </a:solidFill>
                <a:latin typeface="Segoe UI Black"/>
              </a:rPr>
              <a:t>B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275320" y="2779776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8796AB"/>
                </a:solidFill>
                <a:latin typeface="Segoe UI Semibold"/>
              </a:rPr>
              <a:t>ANALYSIS WINDOW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275320" y="29900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>
                <a:solidFill>
                  <a:srgbClr val="F2B13C"/>
                </a:solidFill>
                <a:latin typeface="Segoe UI Black"/>
              </a:rPr>
              <a:t>2002 – 2023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275320" y="338328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>
                <a:solidFill>
                  <a:srgbClr val="B3BFD0"/>
                </a:solidFill>
                <a:latin typeface="Segoe UI"/>
              </a:rPr>
              <a:t>22 years · 8,035 days · same period as Karale et al. (2026)</a:t>
            </a:r>
          </a:p>
        </p:txBody>
      </p:sp>
      <p:sp>
        <p:nvSpPr>
          <p:cNvPr id="145" name="Period card C"/>
          <p:cNvSpPr/>
          <p:nvPr/>
        </p:nvSpPr>
        <p:spPr>
          <a:xfrm>
            <a:off x="7589520" y="3877056"/>
            <a:ext cx="4050791" cy="1097280"/>
          </a:xfrm>
          <a:prstGeom prst="rect">
            <a:avLst/>
          </a:prstGeom>
          <a:solidFill>
            <a:srgbClr val="14233D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772400" y="40050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>
                <a:solidFill>
                  <a:srgbClr val="F2B13C"/>
                </a:solidFill>
                <a:latin typeface="Segoe UI Black"/>
              </a:rPr>
              <a:t>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275320" y="3986784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8796AB"/>
                </a:solidFill>
                <a:latin typeface="Segoe UI Semibold"/>
              </a:rPr>
              <a:t>USABLE RANKING DATA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275320" y="419709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>
                <a:solidFill>
                  <a:srgbClr val="E8EDF5"/>
                </a:solidFill>
                <a:latin typeface="Segoe UI Black"/>
              </a:rPr>
              <a:t>20,490 days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75320" y="459028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>
                <a:solidFill>
                  <a:srgbClr val="B3BFD0"/>
                </a:solidFill>
                <a:latin typeface="Segoe UI"/>
              </a:rPr>
              <a:t>pass every QC rule · 3 stations ranked · Surat, Deesa 0</a:t>
            </a:r>
          </a:p>
        </p:txBody>
      </p:sp>
      <p:sp>
        <p:nvSpPr>
          <p:cNvPr id="150" name="Seasons panel"/>
          <p:cNvSpPr/>
          <p:nvPr/>
        </p:nvSpPr>
        <p:spPr>
          <a:xfrm>
            <a:off x="548640" y="5138928"/>
            <a:ext cx="11091672" cy="114300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77240" y="52578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>
                <a:solidFill>
                  <a:srgbClr val="F2B13C"/>
                </a:solidFill>
                <a:latin typeface="Segoe UI Semibold"/>
              </a:rPr>
              <a:t>FIVE EVALUATION PERIODS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77240" y="55321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B3BFD0"/>
                </a:solidFill>
                <a:latin typeface="Segoe UI"/>
              </a:rPr>
              <a:t>IMD seasons used in the paper. Every model is ranked separately in each period: 3 stations × 5 periods = 15 ranked cells.</a:t>
            </a:r>
          </a:p>
        </p:txBody>
      </p:sp>
      <p:sp>
        <p:nvSpPr>
          <p:cNvPr id="153" name="Season Annual"/>
          <p:cNvSpPr/>
          <p:nvPr/>
        </p:nvSpPr>
        <p:spPr>
          <a:xfrm>
            <a:off x="4206240" y="5303520"/>
            <a:ext cx="1371600" cy="822960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206240" y="53949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8EDF5"/>
                </a:solidFill>
                <a:latin typeface="Segoe UI Semibold"/>
              </a:rPr>
              <a:t>Annual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206240" y="5733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F2B13C"/>
                </a:solidFill>
                <a:latin typeface="Segoe UI"/>
              </a:rPr>
              <a:t>Jan – Dec</a:t>
            </a:r>
          </a:p>
        </p:txBody>
      </p:sp>
      <p:sp>
        <p:nvSpPr>
          <p:cNvPr id="156" name="Season Winter"/>
          <p:cNvSpPr/>
          <p:nvPr/>
        </p:nvSpPr>
        <p:spPr>
          <a:xfrm>
            <a:off x="5669279" y="5303520"/>
            <a:ext cx="1371600" cy="822960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5669279" y="53949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8EDF5"/>
                </a:solidFill>
                <a:latin typeface="Segoe UI Semibold"/>
              </a:rPr>
              <a:t>Winter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669279" y="5733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B3BFD0"/>
                </a:solidFill>
                <a:latin typeface="Segoe UI"/>
              </a:rPr>
              <a:t>Jan – Feb</a:t>
            </a:r>
          </a:p>
        </p:txBody>
      </p:sp>
      <p:sp>
        <p:nvSpPr>
          <p:cNvPr id="159" name="Season Pre-Monsoon"/>
          <p:cNvSpPr/>
          <p:nvPr/>
        </p:nvSpPr>
        <p:spPr>
          <a:xfrm>
            <a:off x="7132320" y="5303520"/>
            <a:ext cx="1371600" cy="822960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7132320" y="53949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8EDF5"/>
                </a:solidFill>
                <a:latin typeface="Segoe UI Semibold"/>
              </a:rPr>
              <a:t>Pre-Monsoon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132320" y="5733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B3BFD0"/>
                </a:solidFill>
                <a:latin typeface="Segoe UI"/>
              </a:rPr>
              <a:t>Mar – May</a:t>
            </a:r>
          </a:p>
        </p:txBody>
      </p:sp>
      <p:sp>
        <p:nvSpPr>
          <p:cNvPr id="162" name="Season Monsoon"/>
          <p:cNvSpPr/>
          <p:nvPr/>
        </p:nvSpPr>
        <p:spPr>
          <a:xfrm>
            <a:off x="8595360" y="5303520"/>
            <a:ext cx="1371600" cy="822960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595360" y="53949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8EDF5"/>
                </a:solidFill>
                <a:latin typeface="Segoe UI Semibold"/>
              </a:rPr>
              <a:t>Monsoon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595360" y="5733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B3BFD0"/>
                </a:solidFill>
                <a:latin typeface="Segoe UI"/>
              </a:rPr>
              <a:t>Jun – Sep</a:t>
            </a:r>
          </a:p>
        </p:txBody>
      </p:sp>
      <p:sp>
        <p:nvSpPr>
          <p:cNvPr id="165" name="Season Post-Monsoon"/>
          <p:cNvSpPr/>
          <p:nvPr/>
        </p:nvSpPr>
        <p:spPr>
          <a:xfrm>
            <a:off x="10058400" y="5303520"/>
            <a:ext cx="1371600" cy="822960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10058400" y="53949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8EDF5"/>
                </a:solidFill>
                <a:latin typeface="Segoe UI Semibold"/>
              </a:rPr>
              <a:t>Post-Monsoon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058400" y="5733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B3BFD0"/>
                </a:solidFill>
                <a:latin typeface="Segoe UI"/>
              </a:rPr>
              <a:t>Oct – Dec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decel="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decel="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decel="100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decel="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decel="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decel="100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decel="100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decel="100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decel="100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decel="100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decel="100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decel="100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decel="100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decel="100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decel="100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decel="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decel="100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decel="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decel="100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decel="100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decel="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500" decel="100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decel="100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decel="100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 decel="100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500" decel="100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500" decel="100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decel="100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500" decel="100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500" decel="100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500" decel="100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500" decel="100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500" decel="100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500" decel="100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500" decel="100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500" decel="100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500" decel="100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decel="100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500" decel="100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500" decel="100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500" decel="100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500" decel="100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500" decel="100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500" decel="100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decel="100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500" decel="100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500" decel="100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500" decel="100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500" decel="100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500" decel="100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500" decel="100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decel="100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500" decel="100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500" decel="100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500" decel="100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500" decel="100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500" decel="100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500" decel="100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decel="100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42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500" decel="100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500" decel="100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42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500" decel="100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42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500" decel="100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42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2" dur="500" decel="100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42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500" decel="100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METHODOLOGY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From raw IMD data to a station × season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993392" cy="17830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47672" y="1783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01</a:t>
            </a:r>
          </a:p>
        </p:txBody>
      </p:sp>
      <p:pic>
        <p:nvPicPr>
          <p:cNvPr id="7" name="Picture 6" descr="ic_s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847088"/>
            <a:ext cx="438912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39572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E8EDF5"/>
                </a:solidFill>
                <a:latin typeface="Segoe UI Semibold"/>
                <a:cs typeface="Segoe UI Semibold"/>
              </a:rPr>
              <a:t>Raw IMD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3580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Tmax · Tmin · 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9464" y="2532888"/>
            <a:ext cx="219456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816352" y="1645920"/>
            <a:ext cx="1993392" cy="17830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15383" y="1783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02</a:t>
            </a:r>
          </a:p>
        </p:txBody>
      </p:sp>
      <p:pic>
        <p:nvPicPr>
          <p:cNvPr id="13" name="Picture 12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1847088"/>
            <a:ext cx="438912" cy="438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17520" y="239572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E8EDF5"/>
                </a:solidFill>
                <a:latin typeface="Segoe UI Semibold"/>
                <a:cs typeface="Segoe UI Semibold"/>
              </a:rPr>
              <a:t>QC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03580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inclusion rules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37176" y="2532888"/>
            <a:ext cx="219455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84064" y="1645920"/>
            <a:ext cx="1993392" cy="17830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3096" y="1783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03</a:t>
            </a:r>
          </a:p>
        </p:txBody>
      </p:sp>
      <p:pic>
        <p:nvPicPr>
          <p:cNvPr id="19" name="Picture 18" descr="ic_s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231" y="1847088"/>
            <a:ext cx="438912" cy="438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85231" y="239572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E8EDF5"/>
                </a:solidFill>
                <a:latin typeface="Segoe UI Semibold"/>
                <a:cs typeface="Segoe UI Semibold"/>
              </a:rPr>
              <a:t>Solar geometry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303580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Ra, N (FAO-56)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04888" y="2532888"/>
            <a:ext cx="219456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351775" y="1645920"/>
            <a:ext cx="1993392" cy="17830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50807" y="1783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04</a:t>
            </a:r>
          </a:p>
        </p:txBody>
      </p:sp>
      <p:pic>
        <p:nvPicPr>
          <p:cNvPr id="25" name="Picture 24" descr="ic_formu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1847088"/>
            <a:ext cx="438912" cy="4389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52944" y="239572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E8EDF5"/>
                </a:solidFill>
                <a:latin typeface="Segoe UI Semibold"/>
                <a:cs typeface="Segoe UI Semibold"/>
              </a:rPr>
              <a:t>Ångström–Prescott reference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303580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Cambria Math"/>
                <a:cs typeface="Cambria Math"/>
              </a:rPr>
              <a:t>(0.25 + 0.50·n/N)·Ra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72599" y="2532888"/>
            <a:ext cx="219457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619488" y="1645920"/>
            <a:ext cx="1993392" cy="17830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018519" y="1783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05</a:t>
            </a:r>
          </a:p>
        </p:txBody>
      </p:sp>
      <p:pic>
        <p:nvPicPr>
          <p:cNvPr id="31" name="Picture 30" descr="ic_therm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0656" y="1847088"/>
            <a:ext cx="438912" cy="4389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820656" y="239572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E8EDF5"/>
                </a:solidFill>
                <a:latin typeface="Segoe UI Semibold"/>
                <a:cs typeface="Segoe UI Semibold"/>
              </a:rPr>
              <a:t>16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0656" y="303580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M1 – M16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616184" y="3447288"/>
            <a:ext cx="0" cy="420624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619488" y="3886200"/>
            <a:ext cx="1993392" cy="17830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018519" y="40233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06</a:t>
            </a:r>
          </a:p>
        </p:txBody>
      </p:sp>
      <p:pic>
        <p:nvPicPr>
          <p:cNvPr id="37" name="Picture 36" descr="ic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0656" y="4087368"/>
            <a:ext cx="438912" cy="4389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820656" y="463600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E8EDF5"/>
                </a:solidFill>
                <a:latin typeface="Segoe UI Semibold"/>
                <a:cs typeface="Segoe UI Semibold"/>
              </a:rPr>
              <a:t>Metrics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0656" y="527608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RMSE · MAE · MBE · R²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9372599" y="4773168"/>
            <a:ext cx="219457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351775" y="3886200"/>
            <a:ext cx="1993392" cy="1783080"/>
          </a:xfrm>
          <a:prstGeom prst="rect">
            <a:avLst/>
          </a:prstGeom>
          <a:solidFill>
            <a:srgbClr val="14233D">
              <a:alpha val="90000"/>
            </a:srgbClr>
          </a:solidFill>
          <a:ln w="13970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50807" y="40233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07</a:t>
            </a:r>
          </a:p>
        </p:txBody>
      </p:sp>
      <p:pic>
        <p:nvPicPr>
          <p:cNvPr id="43" name="Picture 42" descr="ic_formu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4087368"/>
            <a:ext cx="438912" cy="43891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552944" y="463600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F2B13C"/>
                </a:solidFill>
                <a:latin typeface="Segoe UI Semibold"/>
                <a:cs typeface="Segoe UI Semibold"/>
              </a:rPr>
              <a:t>GPI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52944" y="527608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one score per model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7104888" y="4773168"/>
            <a:ext cx="219456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084064" y="3886200"/>
            <a:ext cx="1993392" cy="17830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83096" y="40233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08</a:t>
            </a:r>
          </a:p>
        </p:txBody>
      </p:sp>
      <p:pic>
        <p:nvPicPr>
          <p:cNvPr id="49" name="Picture 48" descr="ic_ra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5231" y="4087368"/>
            <a:ext cx="438912" cy="43891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285231" y="463600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E8EDF5"/>
                </a:solidFill>
                <a:latin typeface="Segoe UI Semibold"/>
                <a:cs typeface="Segoe UI Semibold"/>
              </a:rPr>
              <a:t>Ranking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85231" y="527608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highest GPI = rank 1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4837176" y="4773168"/>
            <a:ext cx="219455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816352" y="3886200"/>
            <a:ext cx="1993392" cy="1783080"/>
          </a:xfrm>
          <a:prstGeom prst="rect">
            <a:avLst/>
          </a:prstGeom>
          <a:solidFill>
            <a:srgbClr val="14233D">
              <a:alpha val="90000"/>
            </a:srgbClr>
          </a:solidFill>
          <a:ln w="13970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15383" y="40233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09</a:t>
            </a:r>
          </a:p>
        </p:txBody>
      </p:sp>
      <p:pic>
        <p:nvPicPr>
          <p:cNvPr id="55" name="Picture 54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4087368"/>
            <a:ext cx="438912" cy="43891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017520" y="463600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F2B13C"/>
                </a:solidFill>
                <a:latin typeface="Segoe UI Semibold"/>
                <a:cs typeface="Segoe UI Semibold"/>
              </a:rPr>
              <a:t>Top-3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7520" y="527608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per ranked cell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2569464" y="4773168"/>
            <a:ext cx="219456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48640" y="3886200"/>
            <a:ext cx="1993392" cy="17830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947672" y="40233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10</a:t>
            </a:r>
          </a:p>
        </p:txBody>
      </p:sp>
      <p:pic>
        <p:nvPicPr>
          <p:cNvPr id="61" name="Picture 60" descr="ic_pi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808" y="4087368"/>
            <a:ext cx="438912" cy="43891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49808" y="463600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E8EDF5"/>
                </a:solidFill>
                <a:latin typeface="Segoe UI Semibold"/>
                <a:cs typeface="Segoe UI Semibold"/>
              </a:rPr>
              <a:t>Station × season comparison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8" y="527608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3 stations × 5 periods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 Semibold"/>
                <a:cs typeface="Segoe UI Semibold"/>
              </a:rPr>
              <a:t>Steps 06–09 are repeated for every station × period cell  ·  15 ranked cells = 3 usable stations × 5 periods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08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code/solar_radiation_analysis_FINAL.ipynb · engine/pipeline.py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4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4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4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4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4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4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4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4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4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4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45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45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4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45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45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45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45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45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45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45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45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45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45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45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45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45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45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45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45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2" presetClass="entr" presetSubtype="0" fill="hold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45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42" presetClass="entr" presetSubtype="0" fill="hold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45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45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QUALITY CONTROL &amp; INCLUSION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A day counts only if every rule passes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212848" cy="141732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83080"/>
            <a:ext cx="347472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70432" y="17373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F2B13C"/>
                </a:solidFill>
                <a:latin typeface="Segoe UI Semibold"/>
                <a:cs typeface="Segoe UI Semibold"/>
              </a:rPr>
              <a:t>ΔT &gt;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13432"/>
            <a:ext cx="18745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Tmax and Tmin valid; Tmax − Tmin positive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600200"/>
            <a:ext cx="2212848" cy="141732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783080"/>
            <a:ext cx="347472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47872" y="17373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F2B13C"/>
                </a:solidFill>
                <a:latin typeface="Cambria Math"/>
                <a:cs typeface="Cambria Math"/>
              </a:rPr>
              <a:t>0 ≤ n ≤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313432"/>
            <a:ext cx="18745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sunshine hours within day length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600200"/>
            <a:ext cx="2212848" cy="141732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E8892B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783080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25312" y="17373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F2B13C"/>
                </a:solidFill>
                <a:latin typeface="Segoe UI Semibold"/>
                <a:cs typeface="Segoe UI Semibold"/>
              </a:rPr>
              <a:t>Sunshine-year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2256300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station-year agrees with satellite cloudiness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4688" y="2715768"/>
            <a:ext cx="1463040" cy="228600"/>
          </a:xfrm>
          <a:prstGeom prst="rect">
            <a:avLst/>
          </a:prstGeom>
          <a:solidFill>
            <a:srgbClr val="E8892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04688" y="2745430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 spc="100" dirty="0">
                <a:solidFill>
                  <a:srgbClr val="E8892B"/>
                </a:solidFill>
                <a:latin typeface="Segoe UI Semibold"/>
                <a:cs typeface="Segoe UI Semibold"/>
              </a:rPr>
              <a:t>GROUP-ADDED QC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72968"/>
            <a:ext cx="2212848" cy="141732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55848"/>
            <a:ext cx="347472" cy="3474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70432" y="3310127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F2B13C"/>
                </a:solidFill>
                <a:latin typeface="Segoe UI Semibold"/>
                <a:cs typeface="Segoe UI Semibold"/>
              </a:rPr>
              <a:t>16 finite estimates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886200"/>
            <a:ext cx="18745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all models give a finite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3172968"/>
            <a:ext cx="2212848" cy="141732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4" name="Picture 23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355848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47872" y="3310127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F2B13C"/>
                </a:solidFill>
                <a:latin typeface="Segoe UI Semibold"/>
                <a:cs typeface="Segoe UI Semibold"/>
              </a:rPr>
              <a:t>≥ 30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3886200"/>
            <a:ext cx="18745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minimum valid days per station × period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3172968"/>
            <a:ext cx="2212848" cy="141732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8" name="Picture 27" descr="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355848"/>
            <a:ext cx="347472" cy="3474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25312" y="3310127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F2B13C"/>
                </a:solidFill>
                <a:latin typeface="Segoe UI Semibold"/>
                <a:cs typeface="Segoe UI Semibold"/>
              </a:rPr>
              <a:t>Nothing altered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4688" y="3886200"/>
            <a:ext cx="18745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no filling · no clipping · no recalibration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1600200"/>
            <a:ext cx="3822191" cy="1828800"/>
          </a:xfrm>
          <a:prstGeom prst="rect">
            <a:avLst/>
          </a:prstGeom>
          <a:solidFill>
            <a:srgbClr val="14233D">
              <a:alpha val="90000"/>
            </a:srgbClr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0" y="1700784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 spc="100">
                <a:solidFill>
                  <a:srgbClr val="F2B13C"/>
                </a:solidFill>
                <a:latin typeface="Segoe UI Semibold"/>
                <a:cs typeface="Segoe UI Semibold"/>
              </a:rPr>
              <a:t>QC ACROSS 5 STATIONS → RANKING ON 3 USABLE STATIONS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2176272"/>
            <a:ext cx="34290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E8EDF5"/>
                </a:solidFill>
                <a:latin typeface="Segoe UI Semibold"/>
                <a:cs typeface="Segoe UI Semibold"/>
              </a:rPr>
              <a:t>Usable ranking days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Ahmedabad 8,013 · Okha 7,040 · Amreli 5,437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E5634D"/>
                </a:solidFill>
                <a:latin typeface="Segoe UI Semibold"/>
                <a:cs typeface="Segoe UI Semibold"/>
              </a:rPr>
              <a:t>Surat 0 · Deesa 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3538728"/>
            <a:ext cx="3822191" cy="1298448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4FB3E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0" y="363931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spc="150">
                <a:solidFill>
                  <a:srgbClr val="4FB3E8"/>
                </a:solidFill>
                <a:latin typeface="Segoe UI Semibold"/>
                <a:cs typeface="Segoe UI Semibold"/>
              </a:rPr>
              <a:t>UPLOAD WORKFLOW ·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931920"/>
            <a:ext cx="3429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E8EDF5"/>
                </a:solidFill>
                <a:latin typeface="Segoe UI"/>
                <a:cs typeface="Segoe UI"/>
              </a:rPr>
              <a:t>Satellite check cannot run; years with &lt; 200 sunshine values are flagged. Same day-level rules apply.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074920"/>
            <a:ext cx="11091672" cy="1051560"/>
          </a:xfrm>
          <a:prstGeom prst="rect">
            <a:avLst/>
          </a:prstGeom>
          <a:solidFill>
            <a:srgbClr val="1A1A12">
              <a:alpha val="55000"/>
            </a:srgbClr>
          </a:solidFill>
          <a:ln w="9525">
            <a:solidFill>
              <a:srgbClr val="E8892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59" y="5074920"/>
            <a:ext cx="1058875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E8892B"/>
                </a:solidFill>
                <a:latin typeface="Segoe UI Semibold"/>
                <a:cs typeface="Segoe UI Semibold"/>
              </a:rPr>
              <a:t>Group-added step  </a:t>
            </a:r>
            <a:r>
              <a:rPr sz="1250" b="0" i="0">
                <a:solidFill>
                  <a:srgbClr val="E8EDF5"/>
                </a:solidFill>
                <a:latin typeface="Segoe UI"/>
                <a:cs typeface="Segoe UI"/>
              </a:rPr>
              <a:t>The sunshine-year check (vs NASA POWER cloudiness: &lt; 200 valid days, same-day r &lt; 0.30, or a better fit when time-shifted) is our addition — not in the paper. Every decision: results/qc_report.csv.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README §4, §8 · results/qc_report.csv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5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THE 16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Five model families by temperature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783080" cy="4462272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783080" cy="54864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2B13C"/>
                </a:solidFill>
                <a:latin typeface="Segoe UI Black"/>
                <a:cs typeface="Segoe UI Black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 Semibold"/>
                <a:cs typeface="Segoe UI Semibold"/>
              </a:rPr>
              <a:t>√ΔT / Hargreaves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86000"/>
            <a:ext cx="466343" cy="548640"/>
          </a:xfrm>
          <a:prstGeom prst="rect">
            <a:avLst/>
          </a:prstGeom>
          <a:solidFill>
            <a:srgbClr val="F2B13C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46634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2B13C"/>
                </a:solidFill>
                <a:latin typeface="Segoe UI Black"/>
                <a:cs typeface="Segoe UI Black"/>
              </a:rPr>
              <a:t>M1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007" y="2286000"/>
            <a:ext cx="466343" cy="548640"/>
          </a:xfrm>
          <a:prstGeom prst="rect">
            <a:avLst/>
          </a:prstGeom>
          <a:solidFill>
            <a:srgbClr val="F2B13C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7" y="2286000"/>
            <a:ext cx="46634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2B13C"/>
                </a:solidFill>
                <a:latin typeface="Segoe UI Black"/>
                <a:cs typeface="Segoe UI Black"/>
              </a:rPr>
              <a:t>M6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8215" y="2286000"/>
            <a:ext cx="466343" cy="548640"/>
          </a:xfrm>
          <a:prstGeom prst="rect">
            <a:avLst/>
          </a:prstGeom>
          <a:solidFill>
            <a:srgbClr val="F2B13C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28215" y="2286000"/>
            <a:ext cx="46634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2B13C"/>
                </a:solidFill>
                <a:latin typeface="Segoe UI Black"/>
                <a:cs typeface="Segoe UI Black"/>
              </a:rPr>
              <a:t>M15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71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spc="100">
                <a:solidFill>
                  <a:srgbClr val="8796AB"/>
                </a:solidFill>
                <a:latin typeface="Segoe UI Semibold"/>
                <a:cs typeface="Segoe UI Semibold"/>
              </a:rPr>
              <a:t>COEFFICIENTS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1868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Cambria Math"/>
                <a:cs typeface="Cambria Math"/>
              </a:rPr>
              <a:t>(a + b√ΔT)·Ra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493008"/>
            <a:ext cx="5852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" y="3493008"/>
            <a:ext cx="5852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9417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M1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694176"/>
            <a:ext cx="585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3694176"/>
            <a:ext cx="585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593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M6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959352"/>
            <a:ext cx="585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0.3040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3959352"/>
            <a:ext cx="585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0.1008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224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M15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224528"/>
            <a:ext cx="585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0.236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0784" y="4224528"/>
            <a:ext cx="585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0.106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9152" y="1481328"/>
            <a:ext cx="1874519" cy="4462272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359152" y="1481328"/>
            <a:ext cx="1874519" cy="54864"/>
          </a:xfrm>
          <a:prstGeom prst="rect">
            <a:avLst/>
          </a:prstGeom>
          <a:solidFill>
            <a:srgbClr val="F0C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96312" y="16002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0C674"/>
                </a:solidFill>
                <a:latin typeface="Segoe UI Black"/>
                <a:cs typeface="Segoe UI Black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1645920"/>
            <a:ext cx="12344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 Semibold"/>
                <a:cs typeface="Segoe UI Semibold"/>
              </a:rPr>
              <a:t>Power / Log ΔT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96312" y="2286000"/>
            <a:ext cx="496824" cy="548640"/>
          </a:xfrm>
          <a:prstGeom prst="rect">
            <a:avLst/>
          </a:prstGeom>
          <a:solidFill>
            <a:srgbClr val="F0C67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96312" y="2286000"/>
            <a:ext cx="49682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0C674"/>
                </a:solidFill>
                <a:latin typeface="Segoe UI Black"/>
                <a:cs typeface="Segoe UI Black"/>
              </a:rPr>
              <a:t>M3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47999" y="2286000"/>
            <a:ext cx="496824" cy="548640"/>
          </a:xfrm>
          <a:prstGeom prst="rect">
            <a:avLst/>
          </a:prstGeom>
          <a:solidFill>
            <a:srgbClr val="F0C67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47999" y="2286000"/>
            <a:ext cx="49682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0C674"/>
                </a:solidFill>
                <a:latin typeface="Segoe UI Black"/>
                <a:cs typeface="Segoe UI Black"/>
              </a:rPr>
              <a:t>M5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99688" y="2286000"/>
            <a:ext cx="496824" cy="548640"/>
          </a:xfrm>
          <a:prstGeom prst="rect">
            <a:avLst/>
          </a:prstGeom>
          <a:solidFill>
            <a:srgbClr val="F0C67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99688" y="2286000"/>
            <a:ext cx="49682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0C674"/>
                </a:solidFill>
                <a:latin typeface="Segoe UI Black"/>
                <a:cs typeface="Segoe UI Black"/>
              </a:rPr>
              <a:t>M9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96312" y="2971800"/>
            <a:ext cx="164591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spc="100">
                <a:solidFill>
                  <a:srgbClr val="8796AB"/>
                </a:solidFill>
                <a:latin typeface="Segoe UI Semibold"/>
                <a:cs typeface="Segoe UI Semibold"/>
              </a:rPr>
              <a:t>COEFFICIENTS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96312" y="3218688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Cambria Math"/>
                <a:cs typeface="Cambria Math"/>
              </a:rPr>
              <a:t>a·ΔT</a:t>
            </a:r>
            <a:r>
              <a:rPr sz="1100" b="0" i="0" baseline="30000">
                <a:solidFill>
                  <a:srgbClr val="B3BFD0"/>
                </a:solidFill>
                <a:latin typeface="Cambria Math"/>
                <a:cs typeface="Cambria Math"/>
              </a:rPr>
              <a:t>b</a:t>
            </a:r>
            <a:r>
              <a:rPr sz="1100" b="0" i="0">
                <a:solidFill>
                  <a:srgbClr val="B3BFD0"/>
                </a:solidFill>
                <a:latin typeface="Cambria Math"/>
                <a:cs typeface="Cambria Math"/>
              </a:rPr>
              <a:t>·Ra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349300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7016" y="349300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96312" y="369417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0C674"/>
                </a:solidFill>
                <a:latin typeface="Segoe UI Semibold"/>
                <a:cs typeface="Segoe UI Semibold"/>
              </a:rPr>
              <a:t>M3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3694176"/>
            <a:ext cx="6309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0.3124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57016" y="3694176"/>
            <a:ext cx="6309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0.2942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96312" y="4050791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Cambria Math"/>
                <a:cs typeface="Cambria Math"/>
              </a:rPr>
              <a:t>(a + b ln ΔT)·Ra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432511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57016" y="432511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96312" y="4526279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0C674"/>
                </a:solidFill>
                <a:latin typeface="Segoe UI Semibold"/>
                <a:cs typeface="Segoe UI Semibold"/>
              </a:rPr>
              <a:t>M5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4526279"/>
            <a:ext cx="6309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0.2063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57016" y="4526279"/>
            <a:ext cx="6309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0.1801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96312" y="4791455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0C674"/>
                </a:solidFill>
                <a:latin typeface="Segoe UI Semibold"/>
                <a:cs typeface="Segoe UI Semibold"/>
              </a:rPr>
              <a:t>M9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4791455"/>
            <a:ext cx="6309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57016" y="4791455"/>
            <a:ext cx="6309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0.28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61104" y="1481328"/>
            <a:ext cx="2606040" cy="4462272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261104" y="1481328"/>
            <a:ext cx="2606040" cy="54864"/>
          </a:xfrm>
          <a:prstGeom prst="rect">
            <a:avLst/>
          </a:prstGeom>
          <a:solidFill>
            <a:srgbClr val="4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98264" y="16002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4FB3E8"/>
                </a:solidFill>
                <a:latin typeface="Segoe UI Black"/>
                <a:cs typeface="Segoe UI Black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9744" y="164592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 Semibold"/>
                <a:cs typeface="Segoe UI Semibold"/>
              </a:rPr>
              <a:t>Linear / Polynomial ΔT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98264" y="2286000"/>
            <a:ext cx="541782" cy="548640"/>
          </a:xfrm>
          <a:prstGeom prst="rect">
            <a:avLst/>
          </a:prstGeom>
          <a:solidFill>
            <a:srgbClr val="4FB3E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98264" y="2286000"/>
            <a:ext cx="54178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4FB3E8"/>
                </a:solidFill>
                <a:latin typeface="Segoe UI Black"/>
                <a:cs typeface="Segoe UI Black"/>
              </a:rPr>
              <a:t>M2*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94910" y="2286000"/>
            <a:ext cx="541782" cy="548640"/>
          </a:xfrm>
          <a:prstGeom prst="rect">
            <a:avLst/>
          </a:prstGeom>
          <a:solidFill>
            <a:srgbClr val="4FB3E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94910" y="2286000"/>
            <a:ext cx="54178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4FB3E8"/>
                </a:solidFill>
                <a:latin typeface="Segoe UI Black"/>
                <a:cs typeface="Segoe UI Black"/>
              </a:rPr>
              <a:t>M4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91556" y="2286000"/>
            <a:ext cx="541782" cy="548640"/>
          </a:xfrm>
          <a:prstGeom prst="rect">
            <a:avLst/>
          </a:prstGeom>
          <a:solidFill>
            <a:srgbClr val="4FB3E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591556" y="2286000"/>
            <a:ext cx="54178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4FB3E8"/>
                </a:solidFill>
                <a:latin typeface="Segoe UI Black"/>
                <a:cs typeface="Segoe UI Black"/>
              </a:rPr>
              <a:t>M11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88202" y="2286000"/>
            <a:ext cx="541782" cy="548640"/>
          </a:xfrm>
          <a:prstGeom prst="rect">
            <a:avLst/>
          </a:prstGeom>
          <a:solidFill>
            <a:srgbClr val="4FB3E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88202" y="2286000"/>
            <a:ext cx="54178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4FB3E8"/>
                </a:solidFill>
                <a:latin typeface="Segoe UI Black"/>
                <a:cs typeface="Segoe UI Black"/>
              </a:rPr>
              <a:t>M16*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98264" y="29718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spc="100">
                <a:solidFill>
                  <a:srgbClr val="8796AB"/>
                </a:solidFill>
                <a:latin typeface="Segoe UI Semibold"/>
                <a:cs typeface="Segoe UI Semibold"/>
              </a:rPr>
              <a:t>COEFFICIENTS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98264" y="321868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Cambria Math"/>
                <a:cs typeface="Cambria Math"/>
              </a:rPr>
              <a:t>(a + bΔT + cΔT²)·Ra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28032" y="3493008"/>
            <a:ext cx="6644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92496" y="3493008"/>
            <a:ext cx="6644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56960" y="3493008"/>
            <a:ext cx="6644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8264" y="369417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FB3E8"/>
                </a:solidFill>
                <a:latin typeface="Segoe UI Semibold"/>
                <a:cs typeface="Segoe UI Semibold"/>
              </a:rPr>
              <a:t>M4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28032" y="3694176"/>
            <a:ext cx="664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0.7730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92496" y="3694176"/>
            <a:ext cx="664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3BFD0"/>
                </a:solidFill>
                <a:latin typeface="Segoe UI"/>
                <a:cs typeface="Segoe UI"/>
              </a:rPr>
              <a:t>−0.0296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56960" y="3694176"/>
            <a:ext cx="664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0.0016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98264" y="39593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FB3E8"/>
                </a:solidFill>
                <a:latin typeface="Segoe UI Semibold"/>
                <a:cs typeface="Segoe UI Semibold"/>
              </a:rPr>
              <a:t>M11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28032" y="3959352"/>
            <a:ext cx="664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0.4610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92496" y="3959352"/>
            <a:ext cx="664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0.0029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56960" y="3959352"/>
            <a:ext cx="664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98264" y="4224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FB3E8"/>
                </a:solidFill>
                <a:latin typeface="Segoe UI Semibold"/>
                <a:cs typeface="Segoe UI Semibold"/>
              </a:rPr>
              <a:t>M16*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28032" y="4224528"/>
            <a:ext cx="664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0.4023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92496" y="4224528"/>
            <a:ext cx="664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3BFD0"/>
                </a:solidFill>
                <a:latin typeface="Segoe UI"/>
                <a:cs typeface="Segoe UI"/>
              </a:rPr>
              <a:t>−0.0433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56960" y="4224528"/>
            <a:ext cx="664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3BFD0"/>
                </a:solidFill>
                <a:latin typeface="Segoe UI"/>
                <a:cs typeface="Segoe UI"/>
              </a:rPr>
              <a:t>0.00185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98264" y="4581144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Cambria Math"/>
                <a:cs typeface="Cambria Math"/>
              </a:rPr>
              <a:t>3.6 × (a + bΔT)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28032" y="4855464"/>
            <a:ext cx="996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24728" y="4855464"/>
            <a:ext cx="996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98264" y="5056631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FB3E8"/>
                </a:solidFill>
                <a:latin typeface="Segoe UI Semibold"/>
                <a:cs typeface="Segoe UI Semibold"/>
              </a:rPr>
              <a:t>M2*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28032" y="5056631"/>
            <a:ext cx="996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1.29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24728" y="5056631"/>
            <a:ext cx="996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0.3626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94576" y="1481328"/>
            <a:ext cx="2011680" cy="4462272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894576" y="1481328"/>
            <a:ext cx="2011680" cy="54864"/>
          </a:xfrm>
          <a:prstGeom prst="rect">
            <a:avLst/>
          </a:prstGeom>
          <a:solidFill>
            <a:srgbClr val="8F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031736" y="16002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8FB8E8"/>
                </a:solidFill>
                <a:latin typeface="Segoe UI Black"/>
                <a:cs typeface="Segoe UI Black"/>
              </a:rPr>
              <a:t>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43216" y="16459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 Semibold"/>
                <a:cs typeface="Segoe UI Semibold"/>
              </a:rPr>
              <a:t>Temperature Ratio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31736" y="2286000"/>
            <a:ext cx="542544" cy="548640"/>
          </a:xfrm>
          <a:prstGeom prst="rect">
            <a:avLst/>
          </a:prstGeom>
          <a:solidFill>
            <a:srgbClr val="8FB8E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031736" y="2286000"/>
            <a:ext cx="5425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8FB8E8"/>
                </a:solidFill>
                <a:latin typeface="Segoe UI Black"/>
                <a:cs typeface="Segoe UI Black"/>
              </a:rPr>
              <a:t>M7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29144" y="2286000"/>
            <a:ext cx="542544" cy="548640"/>
          </a:xfrm>
          <a:prstGeom prst="rect">
            <a:avLst/>
          </a:prstGeom>
          <a:solidFill>
            <a:srgbClr val="8FB8E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629144" y="2286000"/>
            <a:ext cx="5425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8FB8E8"/>
                </a:solidFill>
                <a:latin typeface="Segoe UI Black"/>
                <a:cs typeface="Segoe UI Black"/>
              </a:rPr>
              <a:t>M8*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26551" y="2286000"/>
            <a:ext cx="542544" cy="548640"/>
          </a:xfrm>
          <a:prstGeom prst="rect">
            <a:avLst/>
          </a:prstGeom>
          <a:solidFill>
            <a:srgbClr val="8FB8E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226551" y="2286000"/>
            <a:ext cx="5425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8FB8E8"/>
                </a:solidFill>
                <a:latin typeface="Segoe UI Black"/>
                <a:cs typeface="Segoe UI Black"/>
              </a:rPr>
              <a:t>M12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031736" y="2971800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spc="100">
                <a:solidFill>
                  <a:srgbClr val="8796AB"/>
                </a:solidFill>
                <a:latin typeface="Segoe UI Semibold"/>
                <a:cs typeface="Segoe UI Semibold"/>
              </a:rPr>
              <a:t>COEFFICIENTS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31736" y="32186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3BFD0"/>
                </a:solidFill>
                <a:latin typeface="Cambria Math"/>
                <a:cs typeface="Cambria Math"/>
              </a:rPr>
              <a:t>(a + b·Tmax/Tmin)·Ra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61504" y="3493008"/>
            <a:ext cx="6995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61020" y="3493008"/>
            <a:ext cx="6995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b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31736" y="369417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FB8E8"/>
                </a:solidFill>
                <a:latin typeface="Segoe UI Semibold"/>
                <a:cs typeface="Segoe UI Semibold"/>
              </a:rPr>
              <a:t>M7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61504" y="3694176"/>
            <a:ext cx="6995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0.2889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61020" y="3694176"/>
            <a:ext cx="6995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0.1562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031736" y="40507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Cambria Math"/>
                <a:cs typeface="Cambria Math"/>
              </a:rPr>
              <a:t>(a + b·Θ)·Ra *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61504" y="4325112"/>
            <a:ext cx="6995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61020" y="4325112"/>
            <a:ext cx="6995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b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031736" y="4526279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FB8E8"/>
                </a:solidFill>
                <a:latin typeface="Segoe UI Semibold"/>
                <a:cs typeface="Segoe UI Semibold"/>
              </a:rPr>
              <a:t>M8*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61504" y="4526279"/>
            <a:ext cx="6995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1.7217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161020" y="4526279"/>
            <a:ext cx="6995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−1.691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31736" y="4882895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3BFD0"/>
                </a:solidFill>
                <a:latin typeface="Cambria Math"/>
                <a:cs typeface="Cambria Math"/>
              </a:rPr>
              <a:t>(a + b·Tmin/Tmax)·Ra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61504" y="5157215"/>
            <a:ext cx="6995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161020" y="5157215"/>
            <a:ext cx="6995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b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31736" y="5358383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FB8E8"/>
                </a:solidFill>
                <a:latin typeface="Segoe UI Semibold"/>
                <a:cs typeface="Segoe UI Semibold"/>
              </a:rPr>
              <a:t>M12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61504" y="5358383"/>
            <a:ext cx="6995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0.5290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161020" y="5358383"/>
            <a:ext cx="6995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0.0516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33688" y="1481328"/>
            <a:ext cx="2697480" cy="4462272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8933688" y="1481328"/>
            <a:ext cx="2697480" cy="54864"/>
          </a:xfrm>
          <a:prstGeom prst="rect">
            <a:avLst/>
          </a:prstGeom>
          <a:solidFill>
            <a:srgbClr val="B7A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9070848" y="16002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B7A6E0"/>
                </a:solidFill>
                <a:latin typeface="Segoe UI Black"/>
                <a:cs typeface="Segoe UI Black"/>
              </a:rPr>
              <a:t>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482328" y="164592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 Semibold"/>
                <a:cs typeface="Segoe UI Semibold"/>
              </a:rPr>
              <a:t>Tmax / Tmin / Mean 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070848" y="2286000"/>
            <a:ext cx="771144" cy="548640"/>
          </a:xfrm>
          <a:prstGeom prst="rect">
            <a:avLst/>
          </a:prstGeom>
          <a:solidFill>
            <a:srgbClr val="B7A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070848" y="2286000"/>
            <a:ext cx="7711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B7A6E0"/>
                </a:solidFill>
                <a:latin typeface="Segoe UI Black"/>
                <a:cs typeface="Segoe UI Black"/>
              </a:rPr>
              <a:t>M10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896856" y="2286000"/>
            <a:ext cx="771144" cy="548640"/>
          </a:xfrm>
          <a:prstGeom prst="rect">
            <a:avLst/>
          </a:prstGeom>
          <a:solidFill>
            <a:srgbClr val="B7A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896856" y="2286000"/>
            <a:ext cx="7711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B7A6E0"/>
                </a:solidFill>
                <a:latin typeface="Segoe UI Black"/>
                <a:cs typeface="Segoe UI Black"/>
              </a:rPr>
              <a:t>M13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722864" y="2286000"/>
            <a:ext cx="771144" cy="548640"/>
          </a:xfrm>
          <a:prstGeom prst="rect">
            <a:avLst/>
          </a:prstGeom>
          <a:solidFill>
            <a:srgbClr val="B7A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722864" y="2286000"/>
            <a:ext cx="7711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B7A6E0"/>
                </a:solidFill>
                <a:latin typeface="Segoe UI Black"/>
                <a:cs typeface="Segoe UI Black"/>
              </a:rPr>
              <a:t>M14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70848" y="297180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spc="100">
                <a:solidFill>
                  <a:srgbClr val="8796AB"/>
                </a:solidFill>
                <a:latin typeface="Segoe UI Semibold"/>
                <a:cs typeface="Segoe UI Semibold"/>
              </a:rPr>
              <a:t>COEFFICIENTS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070848" y="321868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3BFD0"/>
                </a:solidFill>
                <a:latin typeface="Cambria Math"/>
                <a:cs typeface="Cambria Math"/>
              </a:rPr>
              <a:t>(a + b·Tmax + c·Tmin)·Ra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500615" y="3493008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195559" y="3493008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b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890503" y="3493008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c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70848" y="369417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7A6E0"/>
                </a:solidFill>
                <a:latin typeface="Segoe UI Semibold"/>
                <a:cs typeface="Segoe UI Semibold"/>
              </a:rPr>
              <a:t>M13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500615" y="3694176"/>
            <a:ext cx="694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3BFD0"/>
                </a:solidFill>
                <a:latin typeface="Segoe UI"/>
                <a:cs typeface="Segoe UI"/>
              </a:rPr>
              <a:t>0.206590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195559" y="3694176"/>
            <a:ext cx="694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3BFD0"/>
                </a:solidFill>
                <a:latin typeface="Segoe UI"/>
                <a:cs typeface="Segoe UI"/>
              </a:rPr>
              <a:t>0.026851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890503" y="3694176"/>
            <a:ext cx="694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3BFD0"/>
                </a:solidFill>
                <a:latin typeface="Segoe UI"/>
                <a:cs typeface="Segoe UI"/>
              </a:rPr>
              <a:t>−0.024184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70848" y="4050791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Cambria Math"/>
                <a:cs typeface="Cambria Math"/>
              </a:rPr>
              <a:t>(a + b·T)·Ra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500615" y="4325112"/>
            <a:ext cx="10424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a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543032" y="4325112"/>
            <a:ext cx="10424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b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070848" y="4526279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7A6E0"/>
                </a:solidFill>
                <a:latin typeface="Segoe UI Semibold"/>
                <a:cs typeface="Segoe UI Semibold"/>
              </a:rPr>
              <a:t>M14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0615" y="4526279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3BFD0"/>
                </a:solidFill>
                <a:latin typeface="Segoe UI"/>
                <a:cs typeface="Segoe UI"/>
              </a:rPr>
              <a:t>0.85235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543032" y="4526279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3BFD0"/>
                </a:solidFill>
                <a:latin typeface="Segoe UI"/>
                <a:cs typeface="Segoe UI"/>
              </a:rPr>
              <a:t>−0.00997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070848" y="4882895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Cambria Math"/>
                <a:cs typeface="Cambria Math"/>
              </a:rPr>
              <a:t>a + b·Ra + c·T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500615" y="5157215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a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195559" y="5157215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b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890503" y="5157215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8796AB"/>
                </a:solidFill>
                <a:latin typeface="Cambria Math"/>
                <a:cs typeface="Cambria Math"/>
              </a:rPr>
              <a:t>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70848" y="5358383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7A6E0"/>
                </a:solidFill>
                <a:latin typeface="Segoe UI Semibold"/>
                <a:cs typeface="Segoe UI Semibold"/>
              </a:rPr>
              <a:t>M10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500615" y="5358383"/>
            <a:ext cx="694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−4.46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195559" y="5358383"/>
            <a:ext cx="694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0.477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890503" y="5358383"/>
            <a:ext cx="694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−0.226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8640" y="5989320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* Used conventions: </a:t>
            </a: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M2 ×3.6 (kWh→MJ; no Ra) · M8 Θ = Tmin/Tmax (paper leaves Θ undefined) · M16 used as printed (no √ΔT).  </a:t>
            </a:r>
            <a:r>
              <a:rPr sz="1100" b="0" i="0">
                <a:solidFill>
                  <a:srgbClr val="8796AB"/>
                </a:solidFill>
                <a:latin typeface="Segoe UI"/>
                <a:cs typeface="Segoe UI"/>
              </a:rPr>
              <a:t>All coefficients as printed · ΔT = Tmax − Tmin · T = mean temperature · units: MJ m⁻² d⁻¹.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10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Karale et al. (2026) Table 2 · engine/models.py · results/model_registry.csv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5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5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5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5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5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5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5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5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5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5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5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5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5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50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50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50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50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50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decel="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500" decel="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500" decel="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500" decel="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500" decel="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500" decel="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50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00" decel="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500" decel="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5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50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2" dur="500" decel="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500" decel="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500" decel="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500" decel="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500" decel="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2" dur="500" decel="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6" dur="500" decel="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500" decel="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4" dur="50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500" decel="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9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500" decel="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6" dur="500" decel="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42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0" dur="50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500" decel="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5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8" dur="50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2" dur="500" decel="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3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6" dur="500" decel="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500" decel="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1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4" dur="500" decel="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5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8" dur="500" decel="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2" dur="500" decel="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3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6" dur="500" decel="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7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0" dur="500" decel="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1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4" dur="500" decel="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5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00" decel="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9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2" dur="500" decel="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3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6" dur="500" decel="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0" dur="500" decel="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1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4" dur="500" decel="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5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8" dur="500" decel="100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9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2" dur="500" decel="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3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00" decel="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7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0" dur="500" decel="100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1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4" dur="500" decel="100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8" dur="500" decel="100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9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2" dur="500" decel="100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3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6" dur="500" decel="100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7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0" dur="500" decel="100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1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500" decel="100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5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8" dur="500" decel="100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9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2" dur="500" decel="100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6" dur="500" decel="100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7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0" dur="500" decel="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1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4" dur="500" decel="100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5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8" dur="500" decel="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9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00" decel="100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3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6" dur="500" decel="100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7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0" dur="500" decel="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4" dur="500" decel="100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5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8" dur="500" decel="100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9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2" dur="500" decel="100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3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6" dur="500" decel="100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7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500" decel="100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1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4" dur="500" decel="100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5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8" dur="500" decel="100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2" dur="500" decel="100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3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6" dur="500" decel="100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7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0" dur="500" decel="100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1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4" dur="500" decel="100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5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500" decel="100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9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2" dur="500" decel="100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3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6" dur="500" decel="100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0" dur="500" decel="100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1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4" dur="500" decel="100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5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8" dur="500" decel="100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9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2" dur="500" decel="100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3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500" decel="100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7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0" dur="500" decel="100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1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4" dur="500" decel="100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8" dur="500" decel="100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9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2" dur="500" decel="100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3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6" dur="500" decel="100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7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0" dur="500" decel="100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1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500" decel="100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5" presetID="42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8" dur="500" decel="100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Four scores per model, per cell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606040" cy="379476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606040" cy="54864"/>
          </a:xfrm>
          <a:prstGeom prst="rect">
            <a:avLst/>
          </a:prstGeom>
          <a:solidFill>
            <a:srgbClr val="4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4FB3E8"/>
                </a:solidFill>
                <a:latin typeface="Segoe UI Black"/>
                <a:cs typeface="Segoe UI Black"/>
              </a:rPr>
              <a:t>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517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Cambria Math"/>
                <a:cs typeface="Cambria Math"/>
              </a:rPr>
              <a:t>√ mean(P − O)²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004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B3BFD0"/>
                </a:solidFill>
                <a:latin typeface="Segoe UI"/>
                <a:cs typeface="Segoe UI"/>
              </a:rPr>
              <a:t>Typical error size; penalises large errors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4672" y="3977639"/>
            <a:ext cx="2093976" cy="0"/>
          </a:xfrm>
          <a:prstGeom prst="line">
            <a:avLst/>
          </a:prstGeom>
          <a:ln w="9525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" y="41148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FB3E8"/>
                </a:solidFill>
                <a:latin typeface="Segoe UI Semibold"/>
                <a:cs typeface="Segoe UI Semibold"/>
              </a:rPr>
              <a:t>RMSE ↓ better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5720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spc="150">
                <a:solidFill>
                  <a:srgbClr val="8796AB"/>
                </a:solidFill>
                <a:latin typeface="Segoe UI Semibold"/>
                <a:cs typeface="Segoe UI Semibold"/>
              </a:rPr>
              <a:t>ROLE IN GPI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846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8EDF5"/>
                </a:solidFill>
                <a:latin typeface="Cambria Math"/>
                <a:cs typeface="Cambria Math"/>
              </a:rPr>
              <a:t>α = +1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1600200"/>
            <a:ext cx="2606040" cy="379476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64992" y="1600200"/>
            <a:ext cx="2606040" cy="54864"/>
          </a:xfrm>
          <a:prstGeom prst="rect">
            <a:avLst/>
          </a:prstGeom>
          <a:solidFill>
            <a:srgbClr val="4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182880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4FB3E8"/>
                </a:solidFill>
                <a:latin typeface="Segoe UI Black"/>
                <a:cs typeface="Segoe UI Black"/>
              </a:rPr>
              <a:t>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6517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Cambria Math"/>
                <a:cs typeface="Cambria Math"/>
              </a:rPr>
              <a:t>mean |P − O|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32004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B3BFD0"/>
                </a:solidFill>
                <a:latin typeface="Segoe UI"/>
                <a:cs typeface="Segoe UI"/>
              </a:rPr>
              <a:t>Average error size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21024" y="3977639"/>
            <a:ext cx="2093976" cy="0"/>
          </a:xfrm>
          <a:prstGeom prst="line">
            <a:avLst/>
          </a:prstGeom>
          <a:ln w="9525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21024" y="41148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FB3E8"/>
                </a:solidFill>
                <a:latin typeface="Segoe UI Semibold"/>
                <a:cs typeface="Segoe UI Semibold"/>
              </a:rPr>
              <a:t>MAE ↓ better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45720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spc="150">
                <a:solidFill>
                  <a:srgbClr val="8796AB"/>
                </a:solidFill>
                <a:latin typeface="Segoe UI Semibold"/>
                <a:cs typeface="Segoe UI Semibold"/>
              </a:rPr>
              <a:t>ROLE IN GPI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4846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8EDF5"/>
                </a:solidFill>
                <a:latin typeface="Cambria Math"/>
                <a:cs typeface="Cambria Math"/>
              </a:rPr>
              <a:t>α = +1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1600200"/>
            <a:ext cx="2606040" cy="379476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81344" y="1600200"/>
            <a:ext cx="2606040" cy="54864"/>
          </a:xfrm>
          <a:prstGeom prst="rect">
            <a:avLst/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7376" y="182880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E8892B"/>
                </a:solidFill>
                <a:latin typeface="Segoe UI Black"/>
                <a:cs typeface="Segoe UI Black"/>
              </a:rPr>
              <a:t>MBE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26517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Cambria Math"/>
                <a:cs typeface="Cambria Math"/>
              </a:rPr>
              <a:t>mean (P − 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2004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B3BFD0"/>
                </a:solidFill>
                <a:latin typeface="Segoe UI"/>
                <a:cs typeface="Segoe UI"/>
              </a:rPr>
              <a:t>Systematic bias · + over, − under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37376" y="3977639"/>
            <a:ext cx="2093976" cy="0"/>
          </a:xfrm>
          <a:prstGeom prst="line">
            <a:avLst/>
          </a:prstGeom>
          <a:ln w="9525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37376" y="41148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892B"/>
                </a:solidFill>
                <a:latin typeface="Segoe UI Semibold"/>
                <a:cs typeface="Segoe UI Semibold"/>
              </a:rPr>
              <a:t>MBE: signed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5720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spc="150">
                <a:solidFill>
                  <a:srgbClr val="8796AB"/>
                </a:solidFill>
                <a:latin typeface="Segoe UI Semibold"/>
                <a:cs typeface="Segoe UI Semibold"/>
              </a:rPr>
              <a:t>ROLE IN GPI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4846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8EDF5"/>
                </a:solidFill>
                <a:latin typeface="Cambria Math"/>
                <a:cs typeface="Cambria Math"/>
              </a:rPr>
              <a:t>α = +1 (signed)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97696" y="1600200"/>
            <a:ext cx="2606040" cy="379476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97696" y="1600200"/>
            <a:ext cx="2606040" cy="54864"/>
          </a:xfrm>
          <a:prstGeom prst="rect">
            <a:avLst/>
          </a:prstGeom>
          <a:solidFill>
            <a:srgbClr val="4C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53728" y="182880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4CC26E"/>
                </a:solidFill>
                <a:latin typeface="Segoe UI Black"/>
                <a:cs typeface="Segoe UI Black"/>
              </a:rPr>
              <a:t>R²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26517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Cambria Math"/>
                <a:cs typeface="Cambria Math"/>
              </a:rPr>
              <a:t>1 − SSE/SST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3728" y="32004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B3BFD0"/>
                </a:solidFill>
                <a:latin typeface="Segoe UI"/>
                <a:cs typeface="Segoe UI"/>
              </a:rPr>
              <a:t>Variation explained; not clipped at zero — can be negative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3728" y="3977639"/>
            <a:ext cx="2093976" cy="0"/>
          </a:xfrm>
          <a:prstGeom prst="line">
            <a:avLst/>
          </a:prstGeom>
          <a:ln w="9525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253728" y="41148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CC26E"/>
                </a:solidFill>
                <a:latin typeface="Segoe UI Semibold"/>
                <a:cs typeface="Segoe UI Semibold"/>
              </a:rPr>
              <a:t>R² ↑ better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45720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spc="150">
                <a:solidFill>
                  <a:srgbClr val="8796AB"/>
                </a:solidFill>
                <a:latin typeface="Segoe UI Semibold"/>
                <a:cs typeface="Segoe UI Semibold"/>
              </a:rPr>
              <a:t>ROLE IN GPI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4846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8EDF5"/>
                </a:solidFill>
                <a:latin typeface="Cambria Math"/>
                <a:cs typeface="Cambria Math"/>
              </a:rPr>
              <a:t>α = −1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13C"/>
                </a:solidFill>
                <a:latin typeface="Segoe UI Semibold"/>
                <a:cs typeface="Segoe UI Semibold"/>
              </a:rPr>
              <a:t>P</a:t>
            </a:r>
            <a:r>
              <a:rPr sz="1250" b="0" i="0">
                <a:solidFill>
                  <a:srgbClr val="B3BFD0"/>
                </a:solidFill>
                <a:latin typeface="Segoe UI"/>
                <a:cs typeface="Segoe UI"/>
              </a:rPr>
              <a:t> = model estimate   </a:t>
            </a:r>
            <a:r>
              <a:rPr sz="1250" b="0" i="0">
                <a:solidFill>
                  <a:srgbClr val="F2B13C"/>
                </a:solidFill>
                <a:latin typeface="Segoe UI Semibold"/>
                <a:cs typeface="Segoe UI Semibold"/>
              </a:rPr>
              <a:t>O</a:t>
            </a:r>
            <a:r>
              <a:rPr sz="1250" b="0" i="0">
                <a:solidFill>
                  <a:srgbClr val="B3BFD0"/>
                </a:solidFill>
                <a:latin typeface="Segoe UI"/>
                <a:cs typeface="Segoe UI"/>
              </a:rPr>
              <a:t> = Ångström–Prescott reference Rs   · computed on daily values within each station × period.   R² is not clipped at 0 — it is negative in 180 of the 240 model × cell results.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Paper Table 3 · engine/metrics.py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GLOBAL PERFORMANCE INDICATOR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Four metrics → one score → one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691640" cy="150876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664207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B13C"/>
                </a:solidFill>
                <a:latin typeface="Segoe UI Black"/>
                <a:cs typeface="Segoe UI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RMSE, MAE, MBE, R² for all 16 models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304288"/>
            <a:ext cx="146304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423160" y="1554480"/>
            <a:ext cx="1691640" cy="150876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7752" y="1664207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B13C"/>
                </a:solidFill>
                <a:latin typeface="Segoe UI Black"/>
                <a:cs typeface="Segoe UI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0116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Min–max 0–1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251460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Cambria Math"/>
                <a:cs typeface="Cambria Math"/>
              </a:rPr>
              <a:t>y = (x − min)/(max − min)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33087" y="2304288"/>
            <a:ext cx="146305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297679" y="1554480"/>
            <a:ext cx="1691640" cy="150876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2271" y="1664207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B13C"/>
                </a:solidFill>
                <a:latin typeface="Segoe UI Black"/>
                <a:cs typeface="Segoe UI Blac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20116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Median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251460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Cambria Math"/>
                <a:cs typeface="Cambria Math"/>
              </a:rPr>
              <a:t>median(y) − 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07607" y="2304288"/>
            <a:ext cx="146304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72199" y="1554480"/>
            <a:ext cx="1691640" cy="150876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1" y="1664207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B13C"/>
                </a:solidFill>
                <a:latin typeface="Segoe UI Black"/>
                <a:cs typeface="Segoe UI Blac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1" y="20116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α direction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1" y="251460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−1 for R²; +1 others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82127" y="2304288"/>
            <a:ext cx="146304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046719" y="1554480"/>
            <a:ext cx="1691640" cy="1508760"/>
          </a:xfrm>
          <a:prstGeom prst="rect">
            <a:avLst/>
          </a:prstGeom>
          <a:solidFill>
            <a:srgbClr val="14233D">
              <a:alpha val="90000"/>
            </a:srgbClr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11311" y="1664207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B13C"/>
                </a:solidFill>
                <a:latin typeface="Segoe UI Black"/>
                <a:cs typeface="Segoe UI Black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1" y="20116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Summation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1" y="251460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Cambria Math"/>
                <a:cs typeface="Cambria Math"/>
              </a:rPr>
              <a:t>GPI = Σ α(median − y)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56647" y="2304288"/>
            <a:ext cx="146304" cy="0"/>
          </a:xfrm>
          <a:prstGeom prst="line">
            <a:avLst/>
          </a:prstGeom>
          <a:ln w="19050">
            <a:solidFill>
              <a:srgbClr val="F2B1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921240" y="1554480"/>
            <a:ext cx="1691640" cy="150876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85832" y="1664207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B13C"/>
                </a:solidFill>
                <a:latin typeface="Segoe UI Black"/>
                <a:cs typeface="Segoe UI Black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5832" y="20116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Ranking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5832" y="251460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highest GPI = rank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291840"/>
            <a:ext cx="6949440" cy="288036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3410712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spc="200">
                <a:solidFill>
                  <a:srgbClr val="F2B13C"/>
                </a:solidFill>
                <a:latin typeface="Segoe UI Semibold"/>
                <a:cs typeface="Segoe UI Semibold"/>
              </a:rPr>
              <a:t>WORKED EXAMPLE  </a:t>
            </a:r>
            <a:r>
              <a:rPr sz="1200" b="0" i="0">
                <a:solidFill>
                  <a:srgbClr val="E8EDF5"/>
                </a:solidFill>
                <a:latin typeface="Segoe UI"/>
                <a:cs typeface="Segoe UI"/>
              </a:rPr>
              <a:t>Ahmedabad · Annual · M1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794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metric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3794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3794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median 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794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M1 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3794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contribution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114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R²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4114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−1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4114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0.924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4114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1.000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4114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2B13C"/>
                </a:solidFill>
                <a:latin typeface="Cambria Math"/>
                <a:cs typeface="Cambria Math"/>
              </a:rPr>
              <a:t>+0.076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46227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RMSE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65960" y="446227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+1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446227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0.162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446227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0.000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46227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2B13C"/>
                </a:solidFill>
                <a:latin typeface="Cambria Math"/>
                <a:cs typeface="Cambria Math"/>
              </a:rPr>
              <a:t>+0.162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480974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MAE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65960" y="480974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+1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480974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0.130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480974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0.000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480974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2B13C"/>
                </a:solidFill>
                <a:latin typeface="Cambria Math"/>
                <a:cs typeface="Cambria Math"/>
              </a:rPr>
              <a:t>+0.130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1572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MBE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65960" y="51572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+1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520" y="51572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0.659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43400" y="51572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Cambria Math"/>
                <a:cs typeface="Cambria Math"/>
              </a:rPr>
              <a:t>0.592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0" y="51572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2B13C"/>
                </a:solidFill>
                <a:latin typeface="Cambria Math"/>
                <a:cs typeface="Cambria Math"/>
              </a:rPr>
              <a:t>+0.068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559612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Segoe UI Semibold"/>
                <a:cs typeface="Segoe UI Semibold"/>
              </a:rPr>
              <a:t>GPI = </a:t>
            </a:r>
            <a:r>
              <a:rPr sz="2000" b="0" i="0">
                <a:solidFill>
                  <a:srgbClr val="F2B13C"/>
                </a:solidFill>
                <a:latin typeface="Segoe UI Black"/>
                <a:cs typeface="Segoe UI Black"/>
              </a:rPr>
              <a:t>0.436</a:t>
            </a:r>
            <a:r>
              <a:rPr sz="1600" b="0" i="0">
                <a:solidFill>
                  <a:srgbClr val="B3BFD0"/>
                </a:solidFill>
                <a:latin typeface="Segoe UI Semibold"/>
                <a:cs typeface="Segoe UI Semibold"/>
              </a:rPr>
              <a:t>   →  rank 1 of 16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26679" y="3291840"/>
            <a:ext cx="3913632" cy="2880360"/>
          </a:xfrm>
          <a:prstGeom prst="rect">
            <a:avLst/>
          </a:prstGeom>
          <a:solidFill>
            <a:srgbClr val="1A1A12">
              <a:alpha val="50000"/>
            </a:srgbClr>
          </a:solidFill>
          <a:ln w="9525">
            <a:solidFill>
              <a:srgbClr val="F2B13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955279" y="3429000"/>
            <a:ext cx="352044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F2B13C"/>
                </a:solidFill>
                <a:latin typeface="Segoe UI Semibold"/>
                <a:cs typeface="Segoe UI Semibold"/>
              </a:rPr>
              <a:t>Equal ±1 contributions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B3BFD0"/>
                </a:solidFill>
                <a:latin typeface="Segoe UI"/>
                <a:cs typeface="Segoe UI"/>
              </a:rPr>
              <a:t>Not arbitrary weights. Positive GPI indicates performance above the median on balance across the included indicators.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endParaRPr sz="1250" b="0" i="0">
              <a:solidFill>
                <a:srgbClr val="B3BFD0"/>
              </a:solidFill>
              <a:latin typeface="Segoe UI"/>
              <a:cs typeface="Segoe UI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F2B13C"/>
                </a:solidFill>
                <a:latin typeface="Segoe UI Semibold"/>
                <a:cs typeface="Segoe UI Semibold"/>
              </a:rPr>
              <a:t>Signed MBE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B3BFD0"/>
                </a:solidFill>
                <a:latin typeface="Segoe UI"/>
                <a:cs typeface="Segoe UI"/>
              </a:rPr>
              <a:t>The most negative bias scales to 0 and scores best on MBE — assumption E.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Paper §2.3.1 (Despotovic et al. 2015) · engine/gpi.py · annual_gpi.csv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4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4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50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ANNUAL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Annual Top-3 by station</a:t>
            </a:r>
          </a:p>
        </p:txBody>
      </p:sp>
      <p:pic>
        <p:nvPicPr>
          <p:cNvPr id="5" name="Picture 4" descr="map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234440"/>
            <a:ext cx="583184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55080" y="1371600"/>
            <a:ext cx="5285232" cy="132588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65392" y="1481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200">
                <a:solidFill>
                  <a:srgbClr val="F2B13C"/>
                </a:solidFill>
                <a:latin typeface="Segoe UI Semibold"/>
                <a:cs typeface="Segoe UI Semibold"/>
              </a:rPr>
              <a:t>AHMEDABAD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755648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E8EDF5"/>
                </a:solidFill>
                <a:latin typeface="Segoe UI Black"/>
                <a:cs typeface="Segoe UI Black"/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3042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#1 · GPI 0.44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7451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8796AB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1755648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B3BFD0"/>
                </a:solidFill>
                <a:latin typeface="Segoe UI Black"/>
                <a:cs typeface="Segoe UI Black"/>
              </a:rPr>
              <a:t>M13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3042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#2 · GPI 0.33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187451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8796AB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1472" y="1755648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B3BFD0"/>
                </a:solidFill>
                <a:latin typeface="Segoe UI Black"/>
                <a:cs typeface="Segoe UI Black"/>
              </a:rPr>
              <a:t>M15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3042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#3 · GPI 0.30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146304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spc="100">
                <a:solidFill>
                  <a:srgbClr val="8796AB"/>
                </a:solidFill>
                <a:latin typeface="Segoe UI Semibold"/>
                <a:cs typeface="Segoe UI Semibold"/>
              </a:rPr>
              <a:t>RANK-1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17373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E8EDF5"/>
                </a:solidFill>
                <a:latin typeface="Segoe UI Semibold"/>
                <a:cs typeface="Segoe UI Semibold"/>
              </a:rPr>
              <a:t>R² 0.54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12140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RMSE 3.32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816352"/>
            <a:ext cx="5285232" cy="132588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2926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200">
                <a:solidFill>
                  <a:srgbClr val="F2B13C"/>
                </a:solidFill>
                <a:latin typeface="Segoe UI Semibold"/>
                <a:cs typeface="Segoe UI Semibold"/>
              </a:rPr>
              <a:t>AMRELI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2004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E8EDF5"/>
                </a:solidFill>
                <a:latin typeface="Segoe UI Black"/>
                <a:cs typeface="Segoe UI Black"/>
              </a:rPr>
              <a:t>M1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7490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#1 · GPI 0.28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3192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8796AB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32004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B3BFD0"/>
                </a:solidFill>
                <a:latin typeface="Segoe UI Black"/>
                <a:cs typeface="Segoe UI Black"/>
              </a:rPr>
              <a:t>M13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37490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#2 · GPI 0.22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33192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8796AB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32004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B3BFD0"/>
                </a:solidFill>
                <a:latin typeface="Segoe UI Black"/>
                <a:cs typeface="Segoe UI Black"/>
              </a:rPr>
              <a:t>M15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37490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#3 · GPI 0.21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2907792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spc="100">
                <a:solidFill>
                  <a:srgbClr val="8796AB"/>
                </a:solidFill>
                <a:latin typeface="Segoe UI Semibold"/>
                <a:cs typeface="Segoe UI Semibold"/>
              </a:rPr>
              <a:t>RANK-1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18211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E8EDF5"/>
                </a:solidFill>
                <a:latin typeface="Segoe UI Semibold"/>
                <a:cs typeface="Segoe UI Semibold"/>
              </a:rPr>
              <a:t>R² 0.33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5661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RMSE 3.67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4261104"/>
            <a:ext cx="5285232" cy="132588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E5634D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65392" y="43708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spc="200">
                <a:solidFill>
                  <a:srgbClr val="F2B13C"/>
                </a:solidFill>
                <a:latin typeface="Segoe UI Semibold"/>
                <a:cs typeface="Segoe UI Semibold"/>
              </a:rPr>
              <a:t>OKHA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4645152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E8EDF5"/>
                </a:solidFill>
                <a:latin typeface="Segoe UI Black"/>
                <a:cs typeface="Segoe UI Black"/>
              </a:rPr>
              <a:t>M5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51937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13C"/>
                </a:solidFill>
                <a:latin typeface="Segoe UI Semibold"/>
                <a:cs typeface="Segoe UI Semibold"/>
              </a:rPr>
              <a:t>#1 · GPI 0.15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2" y="47640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8796AB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4645152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B3BFD0"/>
                </a:solidFill>
                <a:latin typeface="Segoe UI Black"/>
                <a:cs typeface="Segoe UI Black"/>
              </a:rPr>
              <a:t>M3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51937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#2 · GPI 0.13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9992" y="47640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8796AB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1472" y="4645152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B3BFD0"/>
                </a:solidFill>
                <a:latin typeface="Segoe UI Black"/>
                <a:cs typeface="Segoe UI Black"/>
              </a:rPr>
              <a:t>M6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51937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#3 · GPI 0.11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080" y="4352544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spc="100">
                <a:solidFill>
                  <a:srgbClr val="8796AB"/>
                </a:solidFill>
                <a:latin typeface="Segoe UI Semibold"/>
                <a:cs typeface="Segoe UI Semibold"/>
              </a:rPr>
              <a:t>RANK-1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462686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E5634D"/>
                </a:solidFill>
                <a:latin typeface="Segoe UI Semibold"/>
                <a:cs typeface="Segoe UI Semibold"/>
              </a:rPr>
              <a:t>R² -0.08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50109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RMSE 4.83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5715000"/>
            <a:ext cx="5285232" cy="594360"/>
          </a:xfrm>
          <a:prstGeom prst="rect">
            <a:avLst/>
          </a:prstGeom>
          <a:solidFill>
            <a:srgbClr val="2A1414">
              <a:alpha val="55000"/>
            </a:srgbClr>
          </a:solidFill>
          <a:ln w="9525">
            <a:solidFill>
              <a:srgbClr val="E5634D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29400" y="5715000"/>
            <a:ext cx="47823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E5634D"/>
                </a:solidFill>
                <a:latin typeface="Segoe UI Semibold"/>
                <a:cs typeface="Segoe UI Semibold"/>
              </a:rPr>
              <a:t>Note  </a:t>
            </a:r>
            <a:r>
              <a:rPr sz="1250" b="0" i="0">
                <a:solidFill>
                  <a:srgbClr val="E8EDF5"/>
                </a:solidFill>
                <a:latin typeface="Segoe UI"/>
                <a:cs typeface="Segoe UI"/>
              </a:rPr>
              <a:t>Okha’s best annual model still has R² = −0.08.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results/final/top_3_models.csv · RMSE in MJ m⁻² d⁻¹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SEASONAL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The Top-3 changes with the season</a:t>
            </a:r>
          </a:p>
        </p:txBody>
      </p:sp>
      <p:pic>
        <p:nvPicPr>
          <p:cNvPr id="5" name="Picture 4" descr="rank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261872"/>
            <a:ext cx="7898732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F2B13C"/>
                </a:solidFill>
                <a:latin typeface="Segoe UI"/>
                <a:cs typeface="Segoe UI"/>
              </a:rPr>
              <a:t>■ </a:t>
            </a:r>
            <a:r>
              <a:rPr sz="1050" b="0" i="0">
                <a:solidFill>
                  <a:srgbClr val="B3BFD0"/>
                </a:solidFill>
                <a:latin typeface="Segoe UI"/>
                <a:cs typeface="Segoe UI"/>
              </a:rPr>
              <a:t>Top-3    </a:t>
            </a:r>
            <a:r>
              <a:rPr sz="1050" b="0" i="0">
                <a:solidFill>
                  <a:srgbClr val="FFE3A3"/>
                </a:solidFill>
                <a:latin typeface="Segoe UI"/>
                <a:cs typeface="Segoe UI"/>
              </a:rPr>
              <a:t>□ </a:t>
            </a:r>
            <a:r>
              <a:rPr sz="1050" b="0" i="0">
                <a:solidFill>
                  <a:srgbClr val="B3BFD0"/>
                </a:solidFill>
                <a:latin typeface="Segoe UI"/>
                <a:cs typeface="Segoe UI"/>
              </a:rPr>
              <a:t>rank 1    · numbers = GPI rank (1 = best)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8796AB"/>
                </a:solidFill>
                <a:latin typeface="Segoe UI"/>
                <a:cs typeface="Segoe UI"/>
              </a:rPr>
              <a:t>Winter Jan–Feb · Pre-Monsoon Mar–May · Monsoon Jun–Sep · Post-Monsoon Oct–Dec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1371600"/>
            <a:ext cx="2770632" cy="114300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69680" y="1371600"/>
            <a:ext cx="45720" cy="114300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0" y="143560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2B13C"/>
                </a:solidFill>
                <a:latin typeface="Segoe UI Semibold"/>
                <a:cs typeface="Segoe UI Semibold"/>
              </a:rPr>
              <a:t>M15 leads 6 station-season cells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92024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Ranks #1 in Winter, Pre-Monsoon and Post-Monsoon at Ahmedabad and Amreli.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2587752"/>
            <a:ext cx="2770632" cy="114300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69680" y="2587752"/>
            <a:ext cx="45720" cy="114300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265176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2B13C"/>
                </a:solidFill>
                <a:latin typeface="Segoe UI Semibold"/>
                <a:cs typeface="Segoe UI Semibold"/>
              </a:rPr>
              <a:t>Monsoon brings in M2 / M8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136392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Both enter the Top-3 at Ahmedabad and Amreli — in the Monsoon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3803904"/>
            <a:ext cx="2770632" cy="114300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9680" y="3803904"/>
            <a:ext cx="45720" cy="114300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3867912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2B13C"/>
                </a:solidFill>
                <a:latin typeface="Segoe UI Semibold"/>
                <a:cs typeface="Segoe UI Semibold"/>
              </a:rPr>
              <a:t>Okha · always different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352544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No two Okha periods share the same Top-3.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5020056"/>
            <a:ext cx="2770632" cy="114300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69680" y="5020056"/>
            <a:ext cx="45720" cy="1143000"/>
          </a:xfrm>
          <a:prstGeom prst="rect">
            <a:avLst/>
          </a:prstGeom>
          <a:solidFill>
            <a:srgbClr val="E5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5084064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E5634D"/>
                </a:solidFill>
                <a:latin typeface="Segoe UI Semibold"/>
                <a:cs typeface="Segoe UI Semibold"/>
              </a:rPr>
              <a:t>M10 · M16 weakest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568696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Ranks 14–16 in every ranked cell.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results/final/model_ranking.csv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TOP-3 MODEL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How often does each model reach the Top-3?</a:t>
            </a:r>
          </a:p>
        </p:txBody>
      </p:sp>
      <p:pic>
        <p:nvPicPr>
          <p:cNvPr id="5" name="Picture 4" descr="top3_fre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80160"/>
            <a:ext cx="517289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75120" y="1371600"/>
            <a:ext cx="4965192" cy="8686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1691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2B13C"/>
                </a:solidFill>
                <a:latin typeface="Segoe UI Black"/>
                <a:cs typeface="Segoe UI Black"/>
              </a:rPr>
              <a:t>11/15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37160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 Semibold"/>
                <a:cs typeface="Segoe UI Semibold"/>
              </a:rPr>
              <a:t>M1 in the Top-3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"/>
                <a:cs typeface="Segoe UI"/>
              </a:rPr>
              <a:t>most frequent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331720"/>
            <a:ext cx="4965192" cy="8686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2331720"/>
            <a:ext cx="1691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2B13C"/>
                </a:solidFill>
                <a:latin typeface="Segoe UI Black"/>
                <a:cs typeface="Segoe UI Blac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33172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 Semibold"/>
                <a:cs typeface="Segoe UI Semibold"/>
              </a:rPr>
              <a:t>rank-1 positions for M15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"/>
                <a:cs typeface="Segoe UI"/>
              </a:rPr>
              <a:t>most rank-1 wins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291839"/>
            <a:ext cx="4965192" cy="8686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3291839"/>
            <a:ext cx="1691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2B13C"/>
                </a:solidFill>
                <a:latin typeface="Segoe UI Black"/>
                <a:cs typeface="Segoe UI Black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291839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 Semibold"/>
                <a:cs typeface="Segoe UI Semibold"/>
              </a:rPr>
              <a:t>different models take rank 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"/>
                <a:cs typeface="Segoe UI"/>
              </a:rPr>
              <a:t>no single winner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4251959"/>
            <a:ext cx="4965192" cy="8686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4251959"/>
            <a:ext cx="1691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2B13C"/>
                </a:solidFill>
                <a:latin typeface="Segoe UI Black"/>
                <a:cs typeface="Segoe UI Black"/>
              </a:rPr>
              <a:t>12/16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251959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 Semibold"/>
                <a:cs typeface="Segoe UI Semibold"/>
              </a:rPr>
              <a:t>models reach the Top-3 at least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5212079"/>
            <a:ext cx="4965192" cy="86868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5212079"/>
            <a:ext cx="1691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8796AB"/>
                </a:solidFill>
                <a:latin typeface="Segoe UI Black"/>
                <a:cs typeface="Segoe UI Black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5212079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E8EDF5"/>
                </a:solidFill>
                <a:latin typeface="Segoe UI Semibold"/>
                <a:cs typeface="Segoe UI Semibold"/>
              </a:rPr>
              <a:t>Top-3 places: M7, M10, M11, M16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15 cells = 3 stations × 5 periods · model_cross_district_summary.csv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DATA QUALITY &amp; STATION EXCLUSIONS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Reference-data exclusions — not model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658368"/>
          </a:xfrm>
          <a:prstGeom prst="rect">
            <a:avLst/>
          </a:prstGeom>
          <a:solidFill>
            <a:srgbClr val="2A1414">
              <a:alpha val="55000"/>
            </a:srgbClr>
          </a:solidFill>
          <a:ln w="9525">
            <a:solidFill>
              <a:srgbClr val="E5634D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234440"/>
            <a:ext cx="1058875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 dirty="0">
                <a:solidFill>
                  <a:srgbClr val="E5634D"/>
                </a:solidFill>
                <a:latin typeface="Segoe UI Semibold"/>
                <a:cs typeface="Segoe UI Semibold"/>
              </a:rPr>
              <a:t>Conclusion  </a:t>
            </a:r>
            <a:r>
              <a:rPr sz="1400" b="0" i="0" dirty="0">
                <a:solidFill>
                  <a:srgbClr val="E8EDF5"/>
                </a:solidFill>
                <a:latin typeface="Segoe UI"/>
                <a:cs typeface="Segoe UI"/>
              </a:rPr>
              <a:t>Surat and Deesa were excluded because the reference data failed QC — not because the models failed.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spc="150">
                <a:solidFill>
                  <a:srgbClr val="8796AB"/>
                </a:solidFill>
                <a:latin typeface="Segoe UI Semibold"/>
                <a:cs typeface="Segoe UI Semibold"/>
              </a:rPr>
              <a:t>USABLE RANKING DAYS (2002–2023)</a:t>
            </a:r>
          </a:p>
        </p:txBody>
      </p:sp>
      <p:pic>
        <p:nvPicPr>
          <p:cNvPr id="8" name="Picture 7" descr="valid_da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286000"/>
            <a:ext cx="5120640" cy="34688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6440" y="20574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spc="150">
                <a:solidFill>
                  <a:srgbClr val="8796AB"/>
                </a:solidFill>
                <a:latin typeface="Segoe UI Semibold"/>
                <a:cs typeface="Segoe UI Semibold"/>
              </a:rPr>
              <a:t>ISSUE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0574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8EDF5"/>
                </a:solidFill>
                <a:latin typeface="Segoe UI Black"/>
                <a:cs typeface="Segoe UI Black"/>
              </a:rPr>
              <a:t>SURAT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0574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8EDF5"/>
                </a:solidFill>
                <a:latin typeface="Segoe UI Black"/>
                <a:cs typeface="Segoe UI Black"/>
              </a:rPr>
              <a:t>DEESA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377440"/>
            <a:ext cx="5879592" cy="804672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2377440"/>
            <a:ext cx="15087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2B13C"/>
                </a:solidFill>
                <a:latin typeface="Segoe UI Semibold"/>
                <a:cs typeface="Segoe UI Semibold"/>
              </a:rPr>
              <a:t>Missing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377440"/>
            <a:ext cx="2057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22 % of calendar days absent (1,806 of 8,035)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377440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Data start only in 2012 (3,660 of 8,035 days absent)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3255264"/>
            <a:ext cx="5879592" cy="804672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80" y="3255264"/>
            <a:ext cx="15087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 dirty="0">
                <a:solidFill>
                  <a:srgbClr val="F2B13C"/>
                </a:solidFill>
                <a:latin typeface="Segoe UI Semibold"/>
                <a:cs typeface="Segoe UI Semibold"/>
              </a:rPr>
              <a:t>Insufficient valid sunshine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255264"/>
            <a:ext cx="2057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17 years with &lt; 200 valid sunshine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255264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4133087"/>
            <a:ext cx="5879592" cy="804672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97880" y="4133087"/>
            <a:ext cx="15087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2B13C"/>
                </a:solidFill>
                <a:latin typeface="Segoe UI Semibold"/>
                <a:cs typeface="Segoe UI Semibold"/>
              </a:rPr>
              <a:t>Temporal / date 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133087"/>
            <a:ext cx="2057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2002 fits satellite best when shifted ~10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133087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Every year fits only when shifted 50–75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5010912"/>
            <a:ext cx="5879592" cy="804672"/>
          </a:xfrm>
          <a:prstGeom prst="rect">
            <a:avLst/>
          </a:prstGeom>
          <a:solidFill>
            <a:srgbClr val="1E1418">
              <a:alpha val="88000"/>
            </a:srgbClr>
          </a:solidFill>
          <a:ln w="9525">
            <a:solidFill>
              <a:srgbClr val="E5634D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97880" y="5010912"/>
            <a:ext cx="15087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E5634D"/>
                </a:solidFill>
                <a:latin typeface="Segoe UI Semibold"/>
                <a:cs typeface="Segoe UI Semibold"/>
              </a:rPr>
              <a:t>Consequence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5010912"/>
            <a:ext cx="2057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EDF5"/>
                </a:solidFill>
                <a:latin typeface="Segoe UI Semibold"/>
                <a:cs typeface="Segoe UI Semibold"/>
              </a:rPr>
              <a:t>0 usable ranking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010912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EDF5"/>
                </a:solidFill>
                <a:latin typeface="Segoe UI Semibold"/>
                <a:cs typeface="Segoe UI Semibold"/>
              </a:rPr>
              <a:t>0 usable ranking days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README §8 · results/qc_report.csv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Solar Radiation Model Explorer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82496"/>
            <a:ext cx="3749039" cy="2340863"/>
          </a:xfrm>
          <a:prstGeom prst="rect">
            <a:avLst/>
          </a:prstGeom>
          <a:solidFill>
            <a:srgbClr val="0D1626"/>
          </a:solidFill>
          <a:ln w="9525">
            <a:solidFill>
              <a:srgbClr val="34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630936" y="1764792"/>
            <a:ext cx="64008" cy="64008"/>
          </a:xfrm>
          <a:prstGeom prst="ellipse">
            <a:avLst/>
          </a:prstGeom>
          <a:solidFill>
            <a:srgbClr val="E5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764792"/>
            <a:ext cx="64008" cy="64008"/>
          </a:xfrm>
          <a:prstGeom prst="ellipse">
            <a:avLst/>
          </a:prstGeom>
          <a:solidFill>
            <a:srgbClr val="E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764792"/>
            <a:ext cx="64008" cy="64008"/>
          </a:xfrm>
          <a:prstGeom prst="ellipse">
            <a:avLst/>
          </a:prstGeom>
          <a:solidFill>
            <a:srgbClr val="4C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687068"/>
            <a:ext cx="3154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3BFD0"/>
                </a:solidFill>
                <a:latin typeface="Segoe UI Semibold"/>
                <a:cs typeface="Segoe UI Semibold"/>
              </a:rPr>
              <a:t>Overview · dark</a:t>
            </a:r>
          </a:p>
        </p:txBody>
      </p:sp>
      <p:pic>
        <p:nvPicPr>
          <p:cNvPr id="10" name="Picture 9" descr="shot_overview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0" cy="2057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80160" y="2505456"/>
            <a:ext cx="3749039" cy="2340863"/>
          </a:xfrm>
          <a:prstGeom prst="rect">
            <a:avLst/>
          </a:prstGeom>
          <a:solidFill>
            <a:srgbClr val="0D1626"/>
          </a:solidFill>
          <a:ln w="9525">
            <a:solidFill>
              <a:srgbClr val="34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62456" y="2587752"/>
            <a:ext cx="64008" cy="64008"/>
          </a:xfrm>
          <a:prstGeom prst="ellipse">
            <a:avLst/>
          </a:prstGeom>
          <a:solidFill>
            <a:srgbClr val="E5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81328" y="2587752"/>
            <a:ext cx="64008" cy="64008"/>
          </a:xfrm>
          <a:prstGeom prst="ellipse">
            <a:avLst/>
          </a:prstGeom>
          <a:solidFill>
            <a:srgbClr val="E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00200" y="2587752"/>
            <a:ext cx="64008" cy="64008"/>
          </a:xfrm>
          <a:prstGeom prst="ellipse">
            <a:avLst/>
          </a:prstGeom>
          <a:solidFill>
            <a:srgbClr val="4C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2510028"/>
            <a:ext cx="3154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3BFD0"/>
                </a:solidFill>
                <a:latin typeface="Segoe UI Semibold"/>
                <a:cs typeface="Segoe UI Semibold"/>
              </a:rPr>
              <a:t>Overview · light</a:t>
            </a:r>
          </a:p>
        </p:txBody>
      </p:sp>
      <p:pic>
        <p:nvPicPr>
          <p:cNvPr id="16" name="Picture 15" descr="L_over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2743200"/>
            <a:ext cx="3657600" cy="2057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94360" y="1353312"/>
            <a:ext cx="1600200" cy="292608"/>
          </a:xfrm>
          <a:prstGeom prst="rect">
            <a:avLst/>
          </a:prstGeom>
          <a:solidFill>
            <a:srgbClr val="F2B13C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135331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 spc="100">
                <a:solidFill>
                  <a:srgbClr val="F2B13C"/>
                </a:solidFill>
                <a:latin typeface="Segoe UI Semibold"/>
                <a:cs typeface="Segoe UI Semibold"/>
              </a:rPr>
              <a:t>LIGHT / DARK MODE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01184"/>
            <a:ext cx="2148840" cy="1440751"/>
          </a:xfrm>
          <a:prstGeom prst="rect">
            <a:avLst/>
          </a:prstGeom>
          <a:solidFill>
            <a:srgbClr val="0D1626"/>
          </a:solidFill>
          <a:ln w="9525">
            <a:solidFill>
              <a:srgbClr val="34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0936" y="4983480"/>
            <a:ext cx="64008" cy="64008"/>
          </a:xfrm>
          <a:prstGeom prst="ellipse">
            <a:avLst/>
          </a:prstGeom>
          <a:solidFill>
            <a:srgbClr val="E5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9808" y="4983480"/>
            <a:ext cx="64008" cy="64008"/>
          </a:xfrm>
          <a:prstGeom prst="ellipse">
            <a:avLst/>
          </a:prstGeom>
          <a:solidFill>
            <a:srgbClr val="E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4983480"/>
            <a:ext cx="64008" cy="64008"/>
          </a:xfrm>
          <a:prstGeom prst="ellipse">
            <a:avLst/>
          </a:prstGeom>
          <a:solidFill>
            <a:srgbClr val="4C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90575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3BFD0"/>
                </a:solidFill>
                <a:latin typeface="Segoe UI Semibold"/>
                <a:cs typeface="Segoe UI Semibold"/>
              </a:rPr>
              <a:t>Model Explorer</a:t>
            </a:r>
          </a:p>
        </p:txBody>
      </p:sp>
      <p:pic>
        <p:nvPicPr>
          <p:cNvPr id="24" name="Picture 23" descr="shot_explorer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5138928"/>
            <a:ext cx="2057400" cy="11572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88920" y="5074920"/>
            <a:ext cx="2560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E8EDF5"/>
                </a:solidFill>
                <a:latin typeface="Segoe UI Semibold"/>
                <a:cs typeface="Segoe UI Semibold"/>
              </a:rPr>
              <a:t>Model Explorer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all validated results by station, period and 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1353312"/>
            <a:ext cx="5925312" cy="4956048"/>
          </a:xfrm>
          <a:prstGeom prst="rect">
            <a:avLst/>
          </a:prstGeom>
          <a:solidFill>
            <a:srgbClr val="121B2E">
              <a:alpha val="92000"/>
            </a:srgbClr>
          </a:solidFill>
          <a:ln w="15875">
            <a:solidFill>
              <a:srgbClr val="F2B13C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7" name="Picture 26" descr="ic_uplo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1481328"/>
            <a:ext cx="438912" cy="438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2B13C"/>
                </a:solidFill>
                <a:latin typeface="Segoe UI Black"/>
                <a:cs typeface="Segoe UI Black"/>
              </a:rPr>
              <a:t>UPLOAD &amp; ANALYZE</a:t>
            </a: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   analyse your own station file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2011680"/>
            <a:ext cx="1353312" cy="566928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Picture 29" descr="ic_uplo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2157984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2011680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8EDF5"/>
                </a:solidFill>
                <a:latin typeface="Segoe UI Semibold"/>
                <a:cs typeface="Segoe UI Semibold"/>
              </a:rPr>
              <a:t>Excel / CSV upload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24344" y="2011680"/>
            <a:ext cx="1353312" cy="566928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3" name="Picture 32" descr="ic_formul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5783" y="2157984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35823" y="2011680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8EDF5"/>
                </a:solidFill>
                <a:latin typeface="Segoe UI Semibold"/>
                <a:cs typeface="Segoe UI Semibold"/>
              </a:rPr>
              <a:t>16-model analysis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50808" y="2011680"/>
            <a:ext cx="1353312" cy="566928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ic_calend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2248" y="2157984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162288" y="2011680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8EDF5"/>
                </a:solidFill>
                <a:latin typeface="Segoe UI Semibold"/>
                <a:cs typeface="Segoe UI Semibold"/>
              </a:rPr>
              <a:t>5-period results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77272" y="2011680"/>
            <a:ext cx="1353312" cy="566928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9" name="Picture 38" descr="ic_ch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68711" y="2157984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588751" y="2011680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8EDF5"/>
                </a:solidFill>
                <a:latin typeface="Segoe UI Semibold"/>
                <a:cs typeface="Segoe UI Semibold"/>
              </a:rPr>
              <a:t>Downloadable outputs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2615184"/>
            <a:ext cx="2926080" cy="1752637"/>
          </a:xfrm>
          <a:prstGeom prst="rect">
            <a:avLst/>
          </a:prstGeom>
          <a:solidFill>
            <a:srgbClr val="0D1626"/>
          </a:solidFill>
          <a:ln w="9525">
            <a:solidFill>
              <a:srgbClr val="34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/>
          <p:cNvSpPr/>
          <p:nvPr/>
        </p:nvSpPr>
        <p:spPr>
          <a:xfrm>
            <a:off x="5980176" y="2697480"/>
            <a:ext cx="64008" cy="64008"/>
          </a:xfrm>
          <a:prstGeom prst="ellipse">
            <a:avLst/>
          </a:prstGeom>
          <a:solidFill>
            <a:srgbClr val="E5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Oval 42"/>
          <p:cNvSpPr/>
          <p:nvPr/>
        </p:nvSpPr>
        <p:spPr>
          <a:xfrm>
            <a:off x="6099048" y="2697480"/>
            <a:ext cx="64008" cy="64008"/>
          </a:xfrm>
          <a:prstGeom prst="ellipse">
            <a:avLst/>
          </a:prstGeom>
          <a:solidFill>
            <a:srgbClr val="E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6217920" y="2697480"/>
            <a:ext cx="64008" cy="64008"/>
          </a:xfrm>
          <a:prstGeom prst="ellipse">
            <a:avLst/>
          </a:prstGeom>
          <a:solidFill>
            <a:srgbClr val="4C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2619756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3BFD0"/>
                </a:solidFill>
                <a:latin typeface="Segoe UI Semibold"/>
                <a:cs typeface="Segoe UI Semibold"/>
              </a:rPr>
              <a:t>1 · upload a daily station file</a:t>
            </a:r>
          </a:p>
        </p:txBody>
      </p:sp>
      <p:pic>
        <p:nvPicPr>
          <p:cNvPr id="46" name="Picture 45" descr="crop_up_intr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2852928"/>
            <a:ext cx="2834640" cy="1469173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8961120" y="2798064"/>
            <a:ext cx="219456" cy="219456"/>
          </a:xfrm>
          <a:prstGeom prst="ellipse">
            <a:avLst/>
          </a:prstGeom>
          <a:solidFill>
            <a:srgbClr val="F2B13C"/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61120" y="279806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0A1324"/>
                </a:solidFill>
                <a:latin typeface="Segoe UI Semibold"/>
                <a:cs typeface="Segoe UI Semibold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272491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E8EDF5"/>
                </a:solidFill>
                <a:latin typeface="Segoe UI"/>
                <a:cs typeface="Segoe UI"/>
              </a:rPr>
              <a:t>Upload Excel / CSV</a:t>
            </a:r>
          </a:p>
        </p:txBody>
      </p:sp>
      <p:sp>
        <p:nvSpPr>
          <p:cNvPr id="50" name="Oval 49"/>
          <p:cNvSpPr/>
          <p:nvPr/>
        </p:nvSpPr>
        <p:spPr>
          <a:xfrm>
            <a:off x="8961120" y="3182112"/>
            <a:ext cx="219456" cy="219456"/>
          </a:xfrm>
          <a:prstGeom prst="ellipse">
            <a:avLst/>
          </a:prstGeom>
          <a:solidFill>
            <a:srgbClr val="14233D"/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61120" y="318211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2B13C"/>
                </a:solidFill>
                <a:latin typeface="Segoe UI Semibold"/>
                <a:cs typeface="Segoe UI Semibold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1089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E8EDF5"/>
                </a:solidFill>
                <a:latin typeface="Segoe UI"/>
                <a:cs typeface="Segoe UI"/>
              </a:rPr>
              <a:t>Column check</a:t>
            </a:r>
          </a:p>
        </p:txBody>
      </p:sp>
      <p:sp>
        <p:nvSpPr>
          <p:cNvPr id="53" name="Oval 52"/>
          <p:cNvSpPr/>
          <p:nvPr/>
        </p:nvSpPr>
        <p:spPr>
          <a:xfrm>
            <a:off x="8961120" y="3566160"/>
            <a:ext cx="219456" cy="219456"/>
          </a:xfrm>
          <a:prstGeom prst="ellipse">
            <a:avLst/>
          </a:prstGeom>
          <a:solidFill>
            <a:srgbClr val="14233D"/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61120" y="356616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2B13C"/>
                </a:solidFill>
                <a:latin typeface="Segoe UI Semibold"/>
                <a:cs typeface="Segoe UI Semibold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34930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E8EDF5"/>
                </a:solidFill>
                <a:latin typeface="Segoe UI"/>
                <a:cs typeface="Segoe UI"/>
              </a:rPr>
              <a:t>Same QC rules</a:t>
            </a:r>
          </a:p>
        </p:txBody>
      </p:sp>
      <p:sp>
        <p:nvSpPr>
          <p:cNvPr id="56" name="Oval 55"/>
          <p:cNvSpPr/>
          <p:nvPr/>
        </p:nvSpPr>
        <p:spPr>
          <a:xfrm>
            <a:off x="8961120" y="3950208"/>
            <a:ext cx="219456" cy="219456"/>
          </a:xfrm>
          <a:prstGeom prst="ellipse">
            <a:avLst/>
          </a:prstGeom>
          <a:solidFill>
            <a:srgbClr val="14233D"/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961120" y="395020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2B13C"/>
                </a:solidFill>
                <a:latin typeface="Segoe UI Semibold"/>
                <a:cs typeface="Segoe UI Semibold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387705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E8EDF5"/>
                </a:solidFill>
                <a:latin typeface="Segoe UI"/>
                <a:cs typeface="Segoe UI"/>
              </a:rPr>
              <a:t>Enter latitude</a:t>
            </a:r>
          </a:p>
        </p:txBody>
      </p:sp>
      <p:sp>
        <p:nvSpPr>
          <p:cNvPr id="59" name="Oval 58"/>
          <p:cNvSpPr/>
          <p:nvPr/>
        </p:nvSpPr>
        <p:spPr>
          <a:xfrm>
            <a:off x="10314432" y="2798064"/>
            <a:ext cx="219456" cy="219456"/>
          </a:xfrm>
          <a:prstGeom prst="ellipse">
            <a:avLst/>
          </a:prstGeom>
          <a:solidFill>
            <a:srgbClr val="14233D"/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314432" y="279806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2B13C"/>
                </a:solidFill>
                <a:latin typeface="Segoe UI Semibold"/>
                <a:cs typeface="Segoe UI Semibold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88752" y="272491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E8EDF5"/>
                </a:solidFill>
                <a:latin typeface="Segoe UI"/>
                <a:cs typeface="Segoe UI"/>
              </a:rPr>
              <a:t>Run 16 models</a:t>
            </a:r>
          </a:p>
        </p:txBody>
      </p:sp>
      <p:sp>
        <p:nvSpPr>
          <p:cNvPr id="62" name="Oval 61"/>
          <p:cNvSpPr/>
          <p:nvPr/>
        </p:nvSpPr>
        <p:spPr>
          <a:xfrm>
            <a:off x="10314432" y="3182112"/>
            <a:ext cx="219456" cy="219456"/>
          </a:xfrm>
          <a:prstGeom prst="ellipse">
            <a:avLst/>
          </a:prstGeom>
          <a:solidFill>
            <a:srgbClr val="14233D"/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14432" y="318211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2B13C"/>
                </a:solidFill>
                <a:latin typeface="Segoe UI Semibold"/>
                <a:cs typeface="Segoe UI Semibold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88752" y="31089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E8EDF5"/>
                </a:solidFill>
                <a:latin typeface="Segoe UI"/>
                <a:cs typeface="Segoe UI"/>
              </a:rPr>
              <a:t>Metrics → GPI</a:t>
            </a:r>
          </a:p>
        </p:txBody>
      </p:sp>
      <p:sp>
        <p:nvSpPr>
          <p:cNvPr id="65" name="Oval 64"/>
          <p:cNvSpPr/>
          <p:nvPr/>
        </p:nvSpPr>
        <p:spPr>
          <a:xfrm>
            <a:off x="10314432" y="3566160"/>
            <a:ext cx="219456" cy="219456"/>
          </a:xfrm>
          <a:prstGeom prst="ellipse">
            <a:avLst/>
          </a:prstGeom>
          <a:solidFill>
            <a:srgbClr val="14233D"/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314432" y="356616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2B13C"/>
                </a:solidFill>
                <a:latin typeface="Segoe UI Semibold"/>
                <a:cs typeface="Segoe UI Semibold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88752" y="34930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E8EDF5"/>
                </a:solidFill>
                <a:latin typeface="Segoe UI"/>
                <a:cs typeface="Segoe UI"/>
              </a:rPr>
              <a:t>Top-3 · 5 periods</a:t>
            </a:r>
          </a:p>
        </p:txBody>
      </p:sp>
      <p:sp>
        <p:nvSpPr>
          <p:cNvPr id="68" name="Oval 67"/>
          <p:cNvSpPr/>
          <p:nvPr/>
        </p:nvSpPr>
        <p:spPr>
          <a:xfrm>
            <a:off x="10314432" y="3950208"/>
            <a:ext cx="219456" cy="219456"/>
          </a:xfrm>
          <a:prstGeom prst="ellipse">
            <a:avLst/>
          </a:prstGeom>
          <a:solidFill>
            <a:srgbClr val="F2B13C"/>
          </a:solidFill>
          <a:ln w="9525">
            <a:solidFill>
              <a:srgbClr val="F2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314432" y="395020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0A1324"/>
                </a:solidFill>
                <a:latin typeface="Segoe UI Semibold"/>
                <a:cs typeface="Segoe UI Semibold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88752" y="387705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E8EDF5"/>
                </a:solidFill>
                <a:latin typeface="Segoe UI"/>
                <a:cs typeface="Segoe UI"/>
              </a:rPr>
              <a:t>Download results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97880" y="4608576"/>
            <a:ext cx="3611880" cy="1313836"/>
          </a:xfrm>
          <a:prstGeom prst="rect">
            <a:avLst/>
          </a:prstGeom>
          <a:solidFill>
            <a:srgbClr val="0D1626"/>
          </a:solidFill>
          <a:ln w="9525">
            <a:solidFill>
              <a:srgbClr val="34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Oval 71"/>
          <p:cNvSpPr/>
          <p:nvPr/>
        </p:nvSpPr>
        <p:spPr>
          <a:xfrm>
            <a:off x="5980176" y="4690872"/>
            <a:ext cx="64008" cy="64008"/>
          </a:xfrm>
          <a:prstGeom prst="ellipse">
            <a:avLst/>
          </a:prstGeom>
          <a:solidFill>
            <a:srgbClr val="E5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Oval 72"/>
          <p:cNvSpPr/>
          <p:nvPr/>
        </p:nvSpPr>
        <p:spPr>
          <a:xfrm>
            <a:off x="6099048" y="4690872"/>
            <a:ext cx="64008" cy="64008"/>
          </a:xfrm>
          <a:prstGeom prst="ellipse">
            <a:avLst/>
          </a:prstGeom>
          <a:solidFill>
            <a:srgbClr val="E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Oval 73"/>
          <p:cNvSpPr/>
          <p:nvPr/>
        </p:nvSpPr>
        <p:spPr>
          <a:xfrm>
            <a:off x="6217920" y="4690872"/>
            <a:ext cx="64008" cy="64008"/>
          </a:xfrm>
          <a:prstGeom prst="ellipse">
            <a:avLst/>
          </a:prstGeom>
          <a:solidFill>
            <a:srgbClr val="4C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00800" y="461314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3BFD0"/>
                </a:solidFill>
                <a:latin typeface="Segoe UI Semibold"/>
                <a:cs typeface="Segoe UI Semibold"/>
              </a:rPr>
              <a:t>2 · results: Top-3 for each period</a:t>
            </a:r>
          </a:p>
        </p:txBody>
      </p:sp>
      <p:pic>
        <p:nvPicPr>
          <p:cNvPr id="76" name="Picture 75" descr="crop_up_top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3600" y="4846320"/>
            <a:ext cx="3520440" cy="1030373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9601200" y="4608576"/>
            <a:ext cx="1965960" cy="649224"/>
          </a:xfrm>
          <a:prstGeom prst="rect">
            <a:avLst/>
          </a:prstGeom>
          <a:solidFill>
            <a:srgbClr val="0D1626"/>
          </a:solidFill>
          <a:ln w="9525">
            <a:solidFill>
              <a:srgbClr val="34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Oval 77"/>
          <p:cNvSpPr/>
          <p:nvPr/>
        </p:nvSpPr>
        <p:spPr>
          <a:xfrm>
            <a:off x="9683496" y="4690872"/>
            <a:ext cx="64008" cy="64008"/>
          </a:xfrm>
          <a:prstGeom prst="ellipse">
            <a:avLst/>
          </a:prstGeom>
          <a:solidFill>
            <a:srgbClr val="E5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Oval 78"/>
          <p:cNvSpPr/>
          <p:nvPr/>
        </p:nvSpPr>
        <p:spPr>
          <a:xfrm>
            <a:off x="9802368" y="4690872"/>
            <a:ext cx="64008" cy="64008"/>
          </a:xfrm>
          <a:prstGeom prst="ellipse">
            <a:avLst/>
          </a:prstGeom>
          <a:solidFill>
            <a:srgbClr val="E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Oval 79"/>
          <p:cNvSpPr/>
          <p:nvPr/>
        </p:nvSpPr>
        <p:spPr>
          <a:xfrm>
            <a:off x="9921240" y="4690872"/>
            <a:ext cx="64008" cy="64008"/>
          </a:xfrm>
          <a:prstGeom prst="ellipse">
            <a:avLst/>
          </a:prstGeom>
          <a:solidFill>
            <a:srgbClr val="4C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104120" y="4613148"/>
            <a:ext cx="13715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3BFD0"/>
                </a:solidFill>
                <a:latin typeface="Segoe UI Semibold"/>
                <a:cs typeface="Segoe UI Semibold"/>
              </a:rPr>
              <a:t>3 · download</a:t>
            </a:r>
          </a:p>
        </p:txBody>
      </p:sp>
      <p:pic>
        <p:nvPicPr>
          <p:cNvPr id="82" name="Picture 81" descr="crop_up_d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46920" y="4846320"/>
            <a:ext cx="1874519" cy="36576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601200" y="5349240"/>
            <a:ext cx="1965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4CC26E"/>
                </a:solidFill>
                <a:latin typeface="Segoe UI Semibold"/>
                <a:cs typeface="Segoe UI Semibold"/>
              </a:rPr>
              <a:t>Test: Ahmedabad file → M1, M13, M15 · 8,013 days = validated result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17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Screenshots: current dashboard build, run locally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50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500" decel="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500" decel="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5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50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500" decel="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decel="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42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500" decel="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500" decel="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42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500" decel="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42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500" decel="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42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2" dur="500" decel="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42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500" decel="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ASSUMPTIONS, SENSITIVITY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400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METHODOLOGICAL ASSUMPTIONS, SENSITIVITY &amp; LIMITATIONS</a:t>
            </a:r>
            <a:endParaRPr sz="2400" b="0" i="0" dirty="0">
              <a:solidFill>
                <a:schemeClr val="bg1">
                  <a:lumMod val="9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spc="200">
                <a:solidFill>
                  <a:srgbClr val="F2B13C"/>
                </a:solidFill>
                <a:latin typeface="Segoe UI Semibold"/>
                <a:cs typeface="Segoe UI Semibold"/>
              </a:rPr>
              <a:t>MODEL-FORM CONVENTIONS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5257800" cy="566928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2B13C"/>
                </a:solidFill>
                <a:latin typeface="Segoe UI Black"/>
                <a:cs typeface="Segoe UI Black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27632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M2 × 3.6   </a:t>
            </a: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printed result read as kWh → MJ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67712"/>
            <a:ext cx="5257800" cy="566928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67712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2B13C"/>
                </a:solidFill>
                <a:latin typeface="Segoe UI Black"/>
                <a:cs typeface="Segoe UI Black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67712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M8 Θ = Tmin/Tmax   </a:t>
            </a: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Θ is not defined in the paper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07791"/>
            <a:ext cx="5257800" cy="566928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1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2B13C"/>
                </a:solidFill>
                <a:latin typeface="Segoe UI Black"/>
                <a:cs typeface="Segoe UI Black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07791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M16 printed form   </a:t>
            </a: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used without √ΔT, as printed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2102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spc="200">
                <a:solidFill>
                  <a:srgbClr val="F2B13C"/>
                </a:solidFill>
                <a:latin typeface="Segoe UI Semibold"/>
                <a:cs typeface="Segoe UI Semibold"/>
              </a:rPr>
              <a:t>METRIC / GPI CONVENTIONS USED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22776"/>
            <a:ext cx="5257800" cy="566928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922776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4FB3E8"/>
                </a:solidFill>
                <a:latin typeface="Segoe UI Black"/>
                <a:cs typeface="Segoe UI Black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22776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R² = 1 − SSE/SST   </a:t>
            </a: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paper formula; paper’s printed values behave like r²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62856"/>
            <a:ext cx="5257800" cy="566928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562856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4FB3E8"/>
                </a:solidFill>
                <a:latin typeface="Segoe UI Black"/>
                <a:cs typeface="Segoe UI Black"/>
              </a:rP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562856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DF5"/>
                </a:solidFill>
                <a:latin typeface="Segoe UI Semibold"/>
                <a:cs typeface="Segoe UI Semibold"/>
              </a:rPr>
              <a:t>Signed MBE in GPI   </a:t>
            </a:r>
            <a:r>
              <a:rPr sz="1150" b="0" i="0">
                <a:solidFill>
                  <a:srgbClr val="B3BFD0"/>
                </a:solidFill>
                <a:latin typeface="Segoe UI"/>
                <a:cs typeface="Segoe UI"/>
              </a:rPr>
              <a:t>as in the paper; |MBE| tested as alternative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325880"/>
            <a:ext cx="5559552" cy="3611880"/>
          </a:xfrm>
          <a:prstGeom prst="rect">
            <a:avLst/>
          </a:prstGeom>
          <a:solidFill>
            <a:srgbClr val="121B2E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4447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spc="200">
                <a:solidFill>
                  <a:srgbClr val="F2B13C"/>
                </a:solidFill>
                <a:latin typeface="Segoe UI Semibold"/>
                <a:cs typeface="Segoe UI Semibold"/>
              </a:rPr>
              <a:t>RANKING SENSITIVITY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71907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Top-3 sets unchanged (of 15) when the alternative is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1031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5634D"/>
                </a:solidFill>
                <a:latin typeface="Segoe UI Black"/>
                <a:cs typeface="Segoe UI Black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1031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8EDF5"/>
                </a:solidFill>
                <a:latin typeface="Segoe UI"/>
                <a:cs typeface="Segoe UI"/>
              </a:rPr>
              <a:t>R²  →  Pearson r²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49640" y="2212848"/>
            <a:ext cx="2377440" cy="246888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549640" y="2212848"/>
            <a:ext cx="633984" cy="246888"/>
          </a:xfrm>
          <a:prstGeom prst="rect">
            <a:avLst/>
          </a:prstGeom>
          <a:solidFill>
            <a:srgbClr val="E5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000232" y="21031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DF5"/>
                </a:solidFill>
                <a:latin typeface="Segoe UI Black"/>
                <a:cs typeface="Segoe UI Black"/>
              </a:rPr>
              <a:t>4/15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6517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5634D"/>
                </a:solidFill>
                <a:latin typeface="Segoe UI Black"/>
                <a:cs typeface="Segoe UI Black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6517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8EDF5"/>
                </a:solidFill>
                <a:latin typeface="Segoe UI"/>
                <a:cs typeface="Segoe UI"/>
              </a:rPr>
              <a:t>MBE  →  |MBE|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2761488"/>
            <a:ext cx="2377440" cy="246888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49640" y="2761488"/>
            <a:ext cx="633984" cy="246888"/>
          </a:xfrm>
          <a:prstGeom prst="rect">
            <a:avLst/>
          </a:prstGeom>
          <a:solidFill>
            <a:srgbClr val="E5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000232" y="26517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DF5"/>
                </a:solidFill>
                <a:latin typeface="Segoe UI Black"/>
                <a:cs typeface="Segoe UI Black"/>
              </a:rPr>
              <a:t>4/15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2004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99A45"/>
                </a:solidFill>
                <a:latin typeface="Segoe UI Black"/>
                <a:cs typeface="Segoe UI Black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2004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8EDF5"/>
                </a:solidFill>
                <a:latin typeface="Segoe UI"/>
                <a:cs typeface="Segoe UI"/>
              </a:rPr>
              <a:t>M2  →  as printed (no ×3.6)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0" y="3310128"/>
            <a:ext cx="2377440" cy="246888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549640" y="3310128"/>
            <a:ext cx="2060448" cy="246888"/>
          </a:xfrm>
          <a:prstGeom prst="rect">
            <a:avLst/>
          </a:prstGeom>
          <a:solidFill>
            <a:srgbClr val="C9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000232" y="32004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DF5"/>
                </a:solidFill>
                <a:latin typeface="Segoe UI Black"/>
                <a:cs typeface="Segoe UI Black"/>
              </a:rPr>
              <a:t>13/15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749039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FB3E8"/>
                </a:solidFill>
                <a:latin typeface="Segoe UI Black"/>
                <a:cs typeface="Segoe UI Black"/>
              </a:rPr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749039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8EDF5"/>
                </a:solidFill>
                <a:latin typeface="Segoe UI"/>
                <a:cs typeface="Segoe UI"/>
              </a:rPr>
              <a:t>M16  →  original √ΔT 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3858768"/>
            <a:ext cx="2377440" cy="246888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549640" y="3858768"/>
            <a:ext cx="2377440" cy="246888"/>
          </a:xfrm>
          <a:prstGeom prst="rect">
            <a:avLst/>
          </a:prstGeom>
          <a:solidFill>
            <a:srgbClr val="4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000232" y="3749039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DF5"/>
                </a:solidFill>
                <a:latin typeface="Segoe UI Black"/>
                <a:cs typeface="Segoe UI Black"/>
              </a:rPr>
              <a:t>15/15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297679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8796AB"/>
                </a:solidFill>
                <a:latin typeface="Segoe UI Black"/>
                <a:cs typeface="Segoe UI Black"/>
              </a:rPr>
              <a:t>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4297679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8EDF5"/>
                </a:solidFill>
                <a:latin typeface="Segoe UI"/>
                <a:cs typeface="Segoe UI"/>
              </a:rPr>
              <a:t>M8  →  other Θ reading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4407407"/>
            <a:ext cx="2377440" cy="246888"/>
          </a:xfrm>
          <a:prstGeom prst="rect">
            <a:avLst/>
          </a:prstGeom>
          <a:solidFill>
            <a:srgbClr val="1C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49640" y="4297679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8796AB"/>
                </a:solidFill>
                <a:latin typeface="Segoe UI Semibold"/>
                <a:cs typeface="Segoe UI Semibold"/>
              </a:rPr>
              <a:t>not tested — no quantified result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1937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spc="200">
                <a:solidFill>
                  <a:srgbClr val="F2B13C"/>
                </a:solidFill>
                <a:latin typeface="Segoe UI Semibold"/>
                <a:cs typeface="Segoe UI Semibold"/>
              </a:rPr>
              <a:t>LIMITATIONS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13248"/>
            <a:ext cx="3593592" cy="841248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1" name="Picture 50" descr="ic_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632704"/>
            <a:ext cx="384048" cy="3840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234440" y="544068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EDF5"/>
                </a:solidFill>
                <a:latin typeface="Segoe UI Semibold"/>
                <a:cs typeface="Segoe UI Semibold"/>
              </a:rPr>
              <a:t>Reference is estimated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sunshine-derived Rs, not measured pyranometer 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79" y="5413248"/>
            <a:ext cx="3593592" cy="841248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4" name="Picture 53" descr="ic_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1" y="5632704"/>
            <a:ext cx="384048" cy="3840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983479" y="544068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EDF5"/>
                </a:solidFill>
                <a:latin typeface="Segoe UI Semibold"/>
                <a:cs typeface="Segoe UI Semibold"/>
              </a:rPr>
              <a:t>QC is a group addition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sunshine-year check is not in the paper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19" y="5413248"/>
            <a:ext cx="3593592" cy="841248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7" name="Picture 56" descr="ic_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1" y="5632704"/>
            <a:ext cx="384048" cy="38404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732519" y="544068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EDF5"/>
                </a:solidFill>
                <a:latin typeface="Segoe UI Semibold"/>
                <a:cs typeface="Segoe UI Semibold"/>
              </a:rPr>
              <a:t>No direct reproduction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B3BFD0"/>
                </a:solidFill>
                <a:latin typeface="Segoe UI"/>
                <a:cs typeface="Segoe UI"/>
              </a:rPr>
              <a:t>none of the five stations is in the paper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6473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"/>
                <a:cs typeface="Segoe UI"/>
              </a:rPr>
              <a:t>README §7–8 · results/validation_checks.csv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9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9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9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spc="250">
                <a:solidFill>
                  <a:srgbClr val="F2B13C"/>
                </a:solidFill>
                <a:latin typeface="Segoe UI Semibold"/>
                <a:cs typeface="Segoe UI Semibold"/>
              </a:rPr>
              <a:t>KEY FINDINGS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8EDF5"/>
                </a:solidFill>
                <a:latin typeface="Segoe UI Semibold"/>
                <a:cs typeface="Segoe UI Semibold"/>
              </a:rPr>
              <a:t>Conclusion: no model is best everywhere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103120" cy="329184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103120" cy="54864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47088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F2B13C"/>
                </a:solidFill>
                <a:latin typeface="Segoe UI Black"/>
                <a:cs typeface="Segoe UI Blac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78608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 dirty="0">
                <a:solidFill>
                  <a:srgbClr val="B3BFD0"/>
                </a:solidFill>
                <a:latin typeface="Segoe UI"/>
                <a:cs typeface="Segoe UI"/>
              </a:rPr>
              <a:t>models take rank 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3108960"/>
            <a:ext cx="1700784" cy="0"/>
          </a:xfrm>
          <a:prstGeom prst="line">
            <a:avLst/>
          </a:prstGeom>
          <a:ln w="9525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3200400"/>
            <a:ext cx="1783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Segoe UI Semibold"/>
                <a:cs typeface="Segoe UI Semibold"/>
              </a:rPr>
              <a:t>No universal best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3192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 dirty="0">
                <a:solidFill>
                  <a:srgbClr val="B3BFD0"/>
                </a:solidFill>
                <a:latin typeface="Segoe UI"/>
                <a:cs typeface="Segoe UI"/>
              </a:rPr>
              <a:t>No single model ranked first across all station × season cells.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463040"/>
            <a:ext cx="2103120" cy="329184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88920" y="1463040"/>
            <a:ext cx="2103120" cy="54864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0088" y="1645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1847088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F2B13C"/>
                </a:solidFill>
                <a:latin typeface="Segoe UI Black"/>
                <a:cs typeface="Segoe UI Black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578608"/>
            <a:ext cx="17830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dirty="0">
                <a:solidFill>
                  <a:srgbClr val="B3BFD0"/>
                </a:solidFill>
                <a:latin typeface="Segoe UI"/>
                <a:cs typeface="Segoe UI"/>
              </a:rPr>
              <a:t>m</a:t>
            </a:r>
            <a:r>
              <a:rPr sz="1200" b="0" i="0" dirty="0" err="1">
                <a:solidFill>
                  <a:srgbClr val="B3BFD0"/>
                </a:solidFill>
                <a:latin typeface="Segoe UI"/>
                <a:cs typeface="Segoe UI"/>
              </a:rPr>
              <a:t>odels</a:t>
            </a:r>
            <a:r>
              <a:rPr lang="en-IN" sz="1200" dirty="0">
                <a:solidFill>
                  <a:srgbClr val="B3BFD0"/>
                </a:solidFill>
                <a:latin typeface="Segoe UI"/>
                <a:cs typeface="Segoe UI"/>
              </a:rPr>
              <a:t> shared across all 3 stations</a:t>
            </a:r>
            <a:endParaRPr sz="1200" b="0" i="0" dirty="0">
              <a:solidFill>
                <a:srgbClr val="B3BFD0"/>
              </a:solidFill>
              <a:latin typeface="Segoe UI"/>
              <a:cs typeface="Segoe UI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990088" y="3108960"/>
            <a:ext cx="1700784" cy="0"/>
          </a:xfrm>
          <a:prstGeom prst="line">
            <a:avLst/>
          </a:prstGeom>
          <a:ln w="9525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90088" y="3200400"/>
            <a:ext cx="1783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Segoe UI Semibold"/>
                <a:cs typeface="Segoe UI Semibold"/>
              </a:rPr>
              <a:t>Location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393192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Ahmedabad &amp; Amreli share M1, M13 and M15; Okha has a different annual Top-3.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463040"/>
            <a:ext cx="2103120" cy="329184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0" y="1463040"/>
            <a:ext cx="2103120" cy="54864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30368" y="1645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1847088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F2B13C"/>
                </a:solidFill>
                <a:latin typeface="Segoe UI Black"/>
                <a:cs typeface="Segoe UI Black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2578608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station-season cells with M15 at #1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30368" y="3108960"/>
            <a:ext cx="1700784" cy="0"/>
          </a:xfrm>
          <a:prstGeom prst="line">
            <a:avLst/>
          </a:prstGeom>
          <a:ln w="9525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30368" y="3200400"/>
            <a:ext cx="1783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Segoe UI Semibold"/>
                <a:cs typeface="Segoe UI Semibold"/>
              </a:rPr>
              <a:t>Season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93192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Winter, Pre-Monsoon and Post-Monsoon at Ahmedabad and Amreli.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1463040"/>
            <a:ext cx="2103120" cy="329184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69480" y="1463040"/>
            <a:ext cx="2103120" cy="54864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70648" y="1645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1847088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F2B13C"/>
                </a:solidFill>
                <a:latin typeface="Segoe UI Black"/>
                <a:cs typeface="Segoe UI Black"/>
              </a:rPr>
              <a:t>2/5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0648" y="2578608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stations unusable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70648" y="3108960"/>
            <a:ext cx="1700784" cy="0"/>
          </a:xfrm>
          <a:prstGeom prst="line">
            <a:avLst/>
          </a:prstGeom>
          <a:ln w="9525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70648" y="3200400"/>
            <a:ext cx="1783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Segoe UI Semibold"/>
                <a:cs typeface="Segoe UI Semibold"/>
              </a:rPr>
              <a:t>Data quality sets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0648" y="393192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Surat and Deesa: reference data failed QC.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1463040"/>
            <a:ext cx="2103120" cy="3291840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509760" y="1463040"/>
            <a:ext cx="2103120" cy="54864"/>
          </a:xfrm>
          <a:prstGeom prst="rect">
            <a:avLst/>
          </a:prstGeom>
          <a:solidFill>
            <a:srgbClr val="E5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10928" y="1645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796AB"/>
                </a:solidFill>
                <a:latin typeface="Segoe UI Semibold"/>
                <a:cs typeface="Segoe UI Semibold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8" y="1847088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E5634D"/>
                </a:solidFill>
                <a:latin typeface="Segoe UI Black"/>
                <a:cs typeface="Segoe UI Black"/>
              </a:rPr>
              <a:t>4/15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928" y="2578608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Top-3 sets unchanged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10928" y="3108960"/>
            <a:ext cx="1700784" cy="0"/>
          </a:xfrm>
          <a:prstGeom prst="line">
            <a:avLst/>
          </a:prstGeom>
          <a:ln w="9525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710928" y="3200400"/>
            <a:ext cx="1783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E8EDF5"/>
                </a:solidFill>
                <a:latin typeface="Segoe UI Semibold"/>
                <a:cs typeface="Segoe UI Semibold"/>
              </a:rPr>
              <a:t>Rankings are conditional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0928" y="393192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B3BFD0"/>
                </a:solidFill>
                <a:latin typeface="Segoe UI"/>
                <a:cs typeface="Segoe UI"/>
              </a:rPr>
              <a:t>…when the R² or the MBE convention is changed.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63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8640" y="647395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796AB"/>
                </a:solidFill>
                <a:latin typeface="Segoe UI Semibold"/>
                <a:cs typeface="Segoe UI Semibold"/>
              </a:rPr>
              <a:t>Comparative evaluation of temperature-based solar radiation models using global performance indicator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2B13C"/>
                </a:solidFill>
                <a:latin typeface="Segoe UI Semibold"/>
                <a:cs typeface="Segoe UI Semibold"/>
              </a:rPr>
              <a:t>19</a:t>
            </a:r>
          </a:p>
        </p:txBody>
      </p:sp>
      <p:sp>
        <p:nvSpPr>
          <p:cNvPr id="171" name="Future scope panel"/>
          <p:cNvSpPr/>
          <p:nvPr/>
        </p:nvSpPr>
        <p:spPr>
          <a:xfrm>
            <a:off x="548640" y="4956048"/>
            <a:ext cx="11064240" cy="1307592"/>
          </a:xfrm>
          <a:prstGeom prst="rect">
            <a:avLst/>
          </a:prstGeom>
          <a:solidFill>
            <a:srgbClr val="101C33">
              <a:alpha val="88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777240" y="50840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>
                <a:solidFill>
                  <a:srgbClr val="F2B13C"/>
                </a:solidFill>
                <a:latin typeface="Segoe UI Semibold"/>
              </a:rPr>
              <a:t>FUTURE SCOPE (PROPOSED)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376672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B3BFD0"/>
                </a:solidFill>
                <a:latin typeface="Segoe UI"/>
              </a:rPr>
              <a:t>The full workflow stays reusable through the upload-enabled dashboard.</a:t>
            </a:r>
          </a:p>
        </p:txBody>
      </p:sp>
      <p:sp>
        <p:nvSpPr>
          <p:cNvPr id="174" name="Future 0"/>
          <p:cNvSpPr/>
          <p:nvPr/>
        </p:nvSpPr>
        <p:spPr>
          <a:xfrm>
            <a:off x="3017520" y="5102352"/>
            <a:ext cx="1316736" cy="1024128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3108960" y="5230368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E8EDF5"/>
                </a:solidFill>
                <a:latin typeface="Segoe UI Semibold"/>
              </a:rPr>
              <a:t>Test alternatives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090672" y="5715000"/>
            <a:ext cx="11704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B3BFD0"/>
                </a:solidFill>
                <a:latin typeface="Segoe UI"/>
              </a:rPr>
              <a:t>R² / MBE conventions</a:t>
            </a:r>
          </a:p>
        </p:txBody>
      </p:sp>
      <p:sp>
        <p:nvSpPr>
          <p:cNvPr id="177" name="Future 1"/>
          <p:cNvSpPr/>
          <p:nvPr/>
        </p:nvSpPr>
        <p:spPr>
          <a:xfrm>
            <a:off x="4425696" y="5102352"/>
            <a:ext cx="1316736" cy="1024128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517136" y="5230368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E8EDF5"/>
                </a:solidFill>
                <a:latin typeface="Segoe UI Semibold"/>
              </a:rPr>
              <a:t>Pyranometer Rs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498848" y="5715000"/>
            <a:ext cx="11704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B3BFD0"/>
                </a:solidFill>
                <a:latin typeface="Segoe UI"/>
              </a:rPr>
              <a:t>measured reference</a:t>
            </a:r>
          </a:p>
        </p:txBody>
      </p:sp>
      <p:sp>
        <p:nvSpPr>
          <p:cNvPr id="180" name="Future 2"/>
          <p:cNvSpPr/>
          <p:nvPr/>
        </p:nvSpPr>
        <p:spPr>
          <a:xfrm>
            <a:off x="5833872" y="5102352"/>
            <a:ext cx="1316736" cy="1024128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5925312" y="5230368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E8EDF5"/>
                </a:solidFill>
                <a:latin typeface="Segoe UI Semibold"/>
              </a:rPr>
              <a:t>More stations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907024" y="5715000"/>
            <a:ext cx="11704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B3BFD0"/>
                </a:solidFill>
                <a:latin typeface="Segoe UI"/>
              </a:rPr>
              <a:t>clean sunshine records</a:t>
            </a:r>
          </a:p>
        </p:txBody>
      </p:sp>
      <p:sp>
        <p:nvSpPr>
          <p:cNvPr id="183" name="Future 3"/>
          <p:cNvSpPr/>
          <p:nvPr/>
        </p:nvSpPr>
        <p:spPr>
          <a:xfrm>
            <a:off x="7242048" y="5102352"/>
            <a:ext cx="1316736" cy="1024128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7333488" y="5230368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E8EDF5"/>
                </a:solidFill>
                <a:latin typeface="Segoe UI Semibold"/>
              </a:rPr>
              <a:t>Local calibration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315200" y="5715000"/>
            <a:ext cx="11704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B3BFD0"/>
                </a:solidFill>
                <a:latin typeface="Segoe UI"/>
              </a:rPr>
              <a:t>re-fit coefficients</a:t>
            </a:r>
          </a:p>
        </p:txBody>
      </p:sp>
      <p:sp>
        <p:nvSpPr>
          <p:cNvPr id="186" name="Future 4"/>
          <p:cNvSpPr/>
          <p:nvPr/>
        </p:nvSpPr>
        <p:spPr>
          <a:xfrm>
            <a:off x="8650224" y="5102352"/>
            <a:ext cx="1316736" cy="1024128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8741664" y="5230368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E8EDF5"/>
                </a:solidFill>
                <a:latin typeface="Segoe UI Semibold"/>
              </a:rPr>
              <a:t>Upload QC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723376" y="5715000"/>
            <a:ext cx="11704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B3BFD0"/>
                </a:solidFill>
                <a:latin typeface="Segoe UI"/>
              </a:rPr>
              <a:t>satellite sunshine check</a:t>
            </a:r>
          </a:p>
        </p:txBody>
      </p:sp>
      <p:sp>
        <p:nvSpPr>
          <p:cNvPr id="189" name="Future 5"/>
          <p:cNvSpPr/>
          <p:nvPr/>
        </p:nvSpPr>
        <p:spPr>
          <a:xfrm>
            <a:off x="10058400" y="5102352"/>
            <a:ext cx="1316736" cy="1024128"/>
          </a:xfrm>
          <a:prstGeom prst="rect">
            <a:avLst/>
          </a:prstGeom>
          <a:solidFill>
            <a:srgbClr val="14233D">
              <a:alpha val="95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10149840" y="5230368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E8EDF5"/>
                </a:solidFill>
                <a:latin typeface="Segoe UI Semibold"/>
              </a:rPr>
              <a:t>Satellite Rs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131552" y="5715000"/>
            <a:ext cx="11704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B3BFD0"/>
                </a:solidFill>
                <a:latin typeface="Segoe UI"/>
              </a:rPr>
              <a:t>compare products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500" decel="100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decel="100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500" decel="100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500" decel="100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500" decel="100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500" decel="100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500" decel="100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500" decel="100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decel="100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500" decel="100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500" decel="100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500" decel="100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500" decel="100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500" decel="100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500" decel="100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decel="100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500" decel="100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500" decel="100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500" decel="100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500" decel="100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500" decel="100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ap_ou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11480"/>
            <a:ext cx="7242048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96596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0" b="0" i="0">
                <a:solidFill>
                  <a:srgbClr val="E8EDF5"/>
                </a:solidFill>
                <a:latin typeface="Segoe UI Black"/>
                <a:cs typeface="Segoe UI Black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2B13C"/>
                </a:solidFill>
                <a:latin typeface="Segoe UI Semibold"/>
                <a:cs typeface="Segoe UI Semibold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B3BFD0"/>
                </a:solidFill>
                <a:latin typeface="Segoe UI"/>
                <a:cs typeface="Segoe UI"/>
              </a:rPr>
              <a:t>Yashwanthi  ·  Sathwik  ·  Het  ·  Gopal  ·  Shreya  ·  Gayatri</a:t>
            </a:r>
          </a:p>
        </p:txBody>
      </p:sp>
      <p:sp>
        <p:nvSpPr>
          <p:cNvPr id="7" name="Rectangle 6"/>
          <p:cNvSpPr/>
          <p:nvPr/>
        </p:nvSpPr>
        <p:spPr>
          <a:xfrm>
            <a:off x="3714750" y="4526280"/>
            <a:ext cx="4762500" cy="1463040"/>
          </a:xfrm>
          <a:prstGeom prst="rect">
            <a:avLst/>
          </a:prstGeom>
          <a:solidFill>
            <a:srgbClr val="101C33">
              <a:alpha val="90000"/>
            </a:srgbClr>
          </a:solidFill>
          <a:ln w="9525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qr_re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475" y="4663440"/>
            <a:ext cx="1188720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00" y="4913832"/>
            <a:ext cx="3257550" cy="5545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IN" sz="1200" b="0" i="0" spc="80" dirty="0">
                <a:solidFill>
                  <a:srgbClr val="F2B13C"/>
                </a:solidFill>
                <a:latin typeface="Segoe UI Semibold"/>
                <a:cs typeface="Segoe UI Semibold"/>
              </a:rPr>
              <a:t>LIVE DASHBOARD</a:t>
            </a:r>
            <a:endParaRPr sz="1200" dirty="0"/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IN" sz="1050" b="0" i="0" u="sng" dirty="0">
                <a:solidFill>
                  <a:schemeClr val="bg1">
                    <a:lumMod val="95000"/>
                  </a:schemeClr>
                </a:solidFill>
                <a:latin typeface="Segoe UI"/>
                <a:cs typeface="Segoe U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https://temperature-based-solar-radiation-models.streamlit.app/</a:t>
            </a:r>
            <a:endParaRPr sz="105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5967</Words>
  <Application>Microsoft Office PowerPoint</Application>
  <PresentationFormat>Widescreen</PresentationFormat>
  <Paragraphs>904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 Math</vt:lpstr>
      <vt:lpstr>Segoe UI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Sathvik</dc:creator>
  <cp:keywords/>
  <dc:description>generated using python-pptx</dc:description>
  <cp:lastModifiedBy>sathvik sharma</cp:lastModifiedBy>
  <cp:revision>6</cp:revision>
  <dcterms:created xsi:type="dcterms:W3CDTF">2013-01-27T09:14:16Z</dcterms:created>
  <dcterms:modified xsi:type="dcterms:W3CDTF">2026-10-03T10:50:51Z</dcterms:modified>
  <cp:category/>
</cp:coreProperties>
</file>